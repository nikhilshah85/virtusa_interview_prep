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23"/>
  </p:notesMasterIdLst>
  <p:sldIdLst>
    <p:sldId id="256" r:id="rId2"/>
    <p:sldId id="287" r:id="rId3"/>
    <p:sldId id="288" r:id="rId4"/>
    <p:sldId id="313" r:id="rId5"/>
    <p:sldId id="314" r:id="rId6"/>
    <p:sldId id="315" r:id="rId7"/>
    <p:sldId id="316" r:id="rId8"/>
    <p:sldId id="317" r:id="rId9"/>
    <p:sldId id="319" r:id="rId10"/>
    <p:sldId id="289" r:id="rId11"/>
    <p:sldId id="290" r:id="rId12"/>
    <p:sldId id="293" r:id="rId13"/>
    <p:sldId id="299" r:id="rId14"/>
    <p:sldId id="308" r:id="rId15"/>
    <p:sldId id="309" r:id="rId16"/>
    <p:sldId id="294" r:id="rId17"/>
    <p:sldId id="295" r:id="rId18"/>
    <p:sldId id="296" r:id="rId19"/>
    <p:sldId id="297" r:id="rId20"/>
    <p:sldId id="304" r:id="rId21"/>
    <p:sldId id="26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4764" autoAdjust="0"/>
    <p:restoredTop sz="84369" autoAdjust="0"/>
  </p:normalViewPr>
  <p:slideViewPr>
    <p:cSldViewPr snapToGrid="0">
      <p:cViewPr varScale="1">
        <p:scale>
          <a:sx n="68" d="100"/>
          <a:sy n="68" d="100"/>
        </p:scale>
        <p:origin x="62" y="2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hyperlink" Target="https://channel9.msdn.com/" TargetMode="External"/><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hyperlink" Target="https://aka.ms/containerdocs" TargetMode="External"/><Relationship Id="rId1" Type="http://schemas.openxmlformats.org/officeDocument/2006/relationships/hyperlink" Target="https://aka.ms/containersonazure" TargetMode="Externa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hyperlink" Target="https://mva.microsoft.com/" TargetMode="External"/><Relationship Id="rId9"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hyperlink" Target="https://aka.ms/containersonazure" TargetMode="External"/><Relationship Id="rId7" Type="http://schemas.openxmlformats.org/officeDocument/2006/relationships/image" Target="../media/image17.png"/><Relationship Id="rId12" Type="http://schemas.openxmlformats.org/officeDocument/2006/relationships/hyperlink" Target="https://mva.microsoft.com/" TargetMode="External"/><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hyperlink" Target="https://aka.ms/containerdocs" TargetMode="External"/><Relationship Id="rId11" Type="http://schemas.openxmlformats.org/officeDocument/2006/relationships/image" Target="../media/image20.svg"/><Relationship Id="rId5" Type="http://schemas.openxmlformats.org/officeDocument/2006/relationships/image" Target="../media/image16.sv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hyperlink" Target="https://channel9.msdn.com/"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30E702-208B-47A6-A0A4-FF177BF3442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3EB3F27-EDF2-416F-8B30-82A79BFB68D9}">
      <dgm:prSet/>
      <dgm:spPr/>
      <dgm:t>
        <a:bodyPr/>
        <a:lstStyle/>
        <a:p>
          <a:pPr>
            <a:defRPr cap="all"/>
          </a:pPr>
          <a:r>
            <a:rPr lang="en-US"/>
            <a:t>Azure.com service overviews</a:t>
          </a:r>
          <a:br>
            <a:rPr lang="en-US"/>
          </a:br>
          <a:r>
            <a:rPr lang="en-US">
              <a:hlinkClick xmlns:r="http://schemas.openxmlformats.org/officeDocument/2006/relationships" r:id="rId1"/>
            </a:rPr>
            <a:t>https://aka.ms/containersonazure</a:t>
          </a:r>
          <a:r>
            <a:rPr lang="en-US"/>
            <a:t>  </a:t>
          </a:r>
        </a:p>
      </dgm:t>
    </dgm:pt>
    <dgm:pt modelId="{A5BB28B6-D0CB-4145-8501-D9CC8C0B40F5}" type="parTrans" cxnId="{9C6BA6D1-3304-4E55-A53A-83653C0E9DC2}">
      <dgm:prSet/>
      <dgm:spPr/>
      <dgm:t>
        <a:bodyPr/>
        <a:lstStyle/>
        <a:p>
          <a:endParaRPr lang="en-US"/>
        </a:p>
      </dgm:t>
    </dgm:pt>
    <dgm:pt modelId="{3DD5E1CC-071F-4606-9C4A-76631992D29A}" type="sibTrans" cxnId="{9C6BA6D1-3304-4E55-A53A-83653C0E9DC2}">
      <dgm:prSet/>
      <dgm:spPr/>
      <dgm:t>
        <a:bodyPr/>
        <a:lstStyle/>
        <a:p>
          <a:endParaRPr lang="en-US"/>
        </a:p>
      </dgm:t>
    </dgm:pt>
    <dgm:pt modelId="{D842AB30-8FCF-4997-B7F4-B46DA4B8E5F2}">
      <dgm:prSet/>
      <dgm:spPr/>
      <dgm:t>
        <a:bodyPr/>
        <a:lstStyle/>
        <a:p>
          <a:pPr>
            <a:defRPr cap="all"/>
          </a:pPr>
          <a:r>
            <a:rPr lang="en-US"/>
            <a:t>Microsoft Docs - Documentation for container related services</a:t>
          </a:r>
          <a:br>
            <a:rPr lang="en-US"/>
          </a:br>
          <a:r>
            <a:rPr lang="en-US">
              <a:hlinkClick xmlns:r="http://schemas.openxmlformats.org/officeDocument/2006/relationships" r:id="rId2"/>
            </a:rPr>
            <a:t>https://aka.ms/containerdocs</a:t>
          </a:r>
          <a:endParaRPr lang="en-US"/>
        </a:p>
      </dgm:t>
    </dgm:pt>
    <dgm:pt modelId="{34FA1893-B71F-4CBE-819B-FFF3AAF8C2C6}" type="parTrans" cxnId="{2ABB49EC-314D-427B-89E3-5D38594EED26}">
      <dgm:prSet/>
      <dgm:spPr/>
      <dgm:t>
        <a:bodyPr/>
        <a:lstStyle/>
        <a:p>
          <a:endParaRPr lang="en-US"/>
        </a:p>
      </dgm:t>
    </dgm:pt>
    <dgm:pt modelId="{27A66EC3-2F7E-4979-ADFF-19D57EB93774}" type="sibTrans" cxnId="{2ABB49EC-314D-427B-89E3-5D38594EED26}">
      <dgm:prSet/>
      <dgm:spPr/>
      <dgm:t>
        <a:bodyPr/>
        <a:lstStyle/>
        <a:p>
          <a:endParaRPr lang="en-US"/>
        </a:p>
      </dgm:t>
    </dgm:pt>
    <dgm:pt modelId="{4E13C3D5-6B29-441F-9923-FB2C461305CA}">
      <dgm:prSet/>
      <dgm:spPr/>
      <dgm:t>
        <a:bodyPr/>
        <a:lstStyle/>
        <a:p>
          <a:pPr>
            <a:defRPr cap="all"/>
          </a:pPr>
          <a:r>
            <a:rPr lang="en-US"/>
            <a:t>MSDN Channel 9 – Videos covering Azure and Containers</a:t>
          </a:r>
          <a:br>
            <a:rPr lang="en-US"/>
          </a:br>
          <a:r>
            <a:rPr lang="en-US">
              <a:hlinkClick xmlns:r="http://schemas.openxmlformats.org/officeDocument/2006/relationships" r:id="rId3"/>
            </a:rPr>
            <a:t>https://channel9.msdn.com/</a:t>
          </a:r>
          <a:endParaRPr lang="en-US"/>
        </a:p>
      </dgm:t>
    </dgm:pt>
    <dgm:pt modelId="{AD83E11F-7B1B-4A51-8A5D-3765591EF64D}" type="parTrans" cxnId="{0D77731C-FDD5-4679-A2A6-D5B760CAD019}">
      <dgm:prSet/>
      <dgm:spPr/>
      <dgm:t>
        <a:bodyPr/>
        <a:lstStyle/>
        <a:p>
          <a:endParaRPr lang="en-US"/>
        </a:p>
      </dgm:t>
    </dgm:pt>
    <dgm:pt modelId="{6443FC45-0429-4D06-869F-87D559690C75}" type="sibTrans" cxnId="{0D77731C-FDD5-4679-A2A6-D5B760CAD019}">
      <dgm:prSet/>
      <dgm:spPr/>
      <dgm:t>
        <a:bodyPr/>
        <a:lstStyle/>
        <a:p>
          <a:endParaRPr lang="en-US"/>
        </a:p>
      </dgm:t>
    </dgm:pt>
    <dgm:pt modelId="{8AE806F2-C8D9-4DDF-8CF7-85A1283C25B5}">
      <dgm:prSet/>
      <dgm:spPr/>
      <dgm:t>
        <a:bodyPr/>
        <a:lstStyle/>
        <a:p>
          <a:pPr>
            <a:defRPr cap="all"/>
          </a:pPr>
          <a:r>
            <a:rPr lang="en-US"/>
            <a:t>Microsoft Virtual academy – online training courses</a:t>
          </a:r>
          <a:br>
            <a:rPr lang="en-US"/>
          </a:br>
          <a:r>
            <a:rPr lang="en-US">
              <a:hlinkClick xmlns:r="http://schemas.openxmlformats.org/officeDocument/2006/relationships" r:id="rId4"/>
            </a:rPr>
            <a:t>https://mva.microsoft.com/</a:t>
          </a:r>
          <a:endParaRPr lang="en-US"/>
        </a:p>
      </dgm:t>
    </dgm:pt>
    <dgm:pt modelId="{1BE56DDB-E172-443E-A4D9-1154BD05A0CE}" type="parTrans" cxnId="{10F861AD-A6F5-4DF7-B354-6C8960559FBE}">
      <dgm:prSet/>
      <dgm:spPr/>
      <dgm:t>
        <a:bodyPr/>
        <a:lstStyle/>
        <a:p>
          <a:endParaRPr lang="en-US"/>
        </a:p>
      </dgm:t>
    </dgm:pt>
    <dgm:pt modelId="{2A5B1F6B-D7D7-4623-8D08-087141A8FA4D}" type="sibTrans" cxnId="{10F861AD-A6F5-4DF7-B354-6C8960559FBE}">
      <dgm:prSet/>
      <dgm:spPr/>
      <dgm:t>
        <a:bodyPr/>
        <a:lstStyle/>
        <a:p>
          <a:endParaRPr lang="en-US"/>
        </a:p>
      </dgm:t>
    </dgm:pt>
    <dgm:pt modelId="{68CC937A-E077-4145-A888-D04A7A81E16D}" type="pres">
      <dgm:prSet presAssocID="{C930E702-208B-47A6-A0A4-FF177BF34427}" presName="root" presStyleCnt="0">
        <dgm:presLayoutVars>
          <dgm:dir/>
          <dgm:resizeHandles val="exact"/>
        </dgm:presLayoutVars>
      </dgm:prSet>
      <dgm:spPr/>
    </dgm:pt>
    <dgm:pt modelId="{22A751A4-02A4-48C7-9539-5635038966FB}" type="pres">
      <dgm:prSet presAssocID="{03EB3F27-EDF2-416F-8B30-82A79BFB68D9}" presName="compNode" presStyleCnt="0"/>
      <dgm:spPr/>
    </dgm:pt>
    <dgm:pt modelId="{3A3592C1-A280-4647-BBAF-6E8228CE6EC1}" type="pres">
      <dgm:prSet presAssocID="{03EB3F27-EDF2-416F-8B30-82A79BFB68D9}" presName="iconBgRect" presStyleLbl="bgShp" presStyleIdx="0" presStyleCnt="4"/>
      <dgm:spPr/>
    </dgm:pt>
    <dgm:pt modelId="{506256CF-CBF6-4122-A7F7-8ACDABE4E582}" type="pres">
      <dgm:prSet presAssocID="{03EB3F27-EDF2-416F-8B30-82A79BFB68D9}" presName="iconRect" presStyleLbl="node1" presStyleIdx="0"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230C05F1-F881-4AD1-A664-91B78351FED1}" type="pres">
      <dgm:prSet presAssocID="{03EB3F27-EDF2-416F-8B30-82A79BFB68D9}" presName="spaceRect" presStyleCnt="0"/>
      <dgm:spPr/>
    </dgm:pt>
    <dgm:pt modelId="{F3E009DE-D69A-49F8-BE2A-DBFDD71470A8}" type="pres">
      <dgm:prSet presAssocID="{03EB3F27-EDF2-416F-8B30-82A79BFB68D9}" presName="textRect" presStyleLbl="revTx" presStyleIdx="0" presStyleCnt="4">
        <dgm:presLayoutVars>
          <dgm:chMax val="1"/>
          <dgm:chPref val="1"/>
        </dgm:presLayoutVars>
      </dgm:prSet>
      <dgm:spPr/>
    </dgm:pt>
    <dgm:pt modelId="{02C8EDBD-CDA6-4985-819C-6EF64575E3A5}" type="pres">
      <dgm:prSet presAssocID="{3DD5E1CC-071F-4606-9C4A-76631992D29A}" presName="sibTrans" presStyleCnt="0"/>
      <dgm:spPr/>
    </dgm:pt>
    <dgm:pt modelId="{175C2579-02F9-431D-8C59-E8C29546A1BE}" type="pres">
      <dgm:prSet presAssocID="{D842AB30-8FCF-4997-B7F4-B46DA4B8E5F2}" presName="compNode" presStyleCnt="0"/>
      <dgm:spPr/>
    </dgm:pt>
    <dgm:pt modelId="{F8B86A96-83FE-4CEF-B117-4AF9BD43072C}" type="pres">
      <dgm:prSet presAssocID="{D842AB30-8FCF-4997-B7F4-B46DA4B8E5F2}" presName="iconBgRect" presStyleLbl="bgShp" presStyleIdx="1" presStyleCnt="4"/>
      <dgm:spPr/>
    </dgm:pt>
    <dgm:pt modelId="{8C12F443-4A3B-4330-B66D-9ED4EF0D11C3}" type="pres">
      <dgm:prSet presAssocID="{D842AB30-8FCF-4997-B7F4-B46DA4B8E5F2}" presName="iconRect" presStyleLbl="node1" presStyleIdx="1"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pen Folder"/>
        </a:ext>
      </dgm:extLst>
    </dgm:pt>
    <dgm:pt modelId="{65692D91-46AC-4DA9-880C-D231B4A40AC8}" type="pres">
      <dgm:prSet presAssocID="{D842AB30-8FCF-4997-B7F4-B46DA4B8E5F2}" presName="spaceRect" presStyleCnt="0"/>
      <dgm:spPr/>
    </dgm:pt>
    <dgm:pt modelId="{1B4CECE9-E8E6-44A1-A3DF-BA015033042E}" type="pres">
      <dgm:prSet presAssocID="{D842AB30-8FCF-4997-B7F4-B46DA4B8E5F2}" presName="textRect" presStyleLbl="revTx" presStyleIdx="1" presStyleCnt="4">
        <dgm:presLayoutVars>
          <dgm:chMax val="1"/>
          <dgm:chPref val="1"/>
        </dgm:presLayoutVars>
      </dgm:prSet>
      <dgm:spPr/>
    </dgm:pt>
    <dgm:pt modelId="{C62B7FA6-2D02-4593-82EB-B3F5247F0308}" type="pres">
      <dgm:prSet presAssocID="{27A66EC3-2F7E-4979-ADFF-19D57EB93774}" presName="sibTrans" presStyleCnt="0"/>
      <dgm:spPr/>
    </dgm:pt>
    <dgm:pt modelId="{227365F7-D7EF-47E4-BFE2-5B7294FF664B}" type="pres">
      <dgm:prSet presAssocID="{4E13C3D5-6B29-441F-9923-FB2C461305CA}" presName="compNode" presStyleCnt="0"/>
      <dgm:spPr/>
    </dgm:pt>
    <dgm:pt modelId="{F5346287-DA82-42F6-8204-BE5ACA2033BC}" type="pres">
      <dgm:prSet presAssocID="{4E13C3D5-6B29-441F-9923-FB2C461305CA}" presName="iconBgRect" presStyleLbl="bgShp" presStyleIdx="2" presStyleCnt="4"/>
      <dgm:spPr/>
    </dgm:pt>
    <dgm:pt modelId="{13EA1D7B-5479-465C-A355-15F52427CCC7}" type="pres">
      <dgm:prSet presAssocID="{4E13C3D5-6B29-441F-9923-FB2C461305CA}" presName="iconRect" presStyleLbl="node1" presStyleIdx="2"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oud"/>
        </a:ext>
      </dgm:extLst>
    </dgm:pt>
    <dgm:pt modelId="{312F31D8-116C-4ED6-8462-82CC3EE866E9}" type="pres">
      <dgm:prSet presAssocID="{4E13C3D5-6B29-441F-9923-FB2C461305CA}" presName="spaceRect" presStyleCnt="0"/>
      <dgm:spPr/>
    </dgm:pt>
    <dgm:pt modelId="{8EDFF372-1615-4AF1-B302-BFDF8D403107}" type="pres">
      <dgm:prSet presAssocID="{4E13C3D5-6B29-441F-9923-FB2C461305CA}" presName="textRect" presStyleLbl="revTx" presStyleIdx="2" presStyleCnt="4">
        <dgm:presLayoutVars>
          <dgm:chMax val="1"/>
          <dgm:chPref val="1"/>
        </dgm:presLayoutVars>
      </dgm:prSet>
      <dgm:spPr/>
    </dgm:pt>
    <dgm:pt modelId="{674286B7-B308-4164-9FB4-DE9FC6FA7AB1}" type="pres">
      <dgm:prSet presAssocID="{6443FC45-0429-4D06-869F-87D559690C75}" presName="sibTrans" presStyleCnt="0"/>
      <dgm:spPr/>
    </dgm:pt>
    <dgm:pt modelId="{31A6837C-4275-4B21-B160-78C6558ADA7E}" type="pres">
      <dgm:prSet presAssocID="{8AE806F2-C8D9-4DDF-8CF7-85A1283C25B5}" presName="compNode" presStyleCnt="0"/>
      <dgm:spPr/>
    </dgm:pt>
    <dgm:pt modelId="{E1B1F858-8C96-4376-AF3A-E2B18EEF01B9}" type="pres">
      <dgm:prSet presAssocID="{8AE806F2-C8D9-4DDF-8CF7-85A1283C25B5}" presName="iconBgRect" presStyleLbl="bgShp" presStyleIdx="3" presStyleCnt="4"/>
      <dgm:spPr/>
    </dgm:pt>
    <dgm:pt modelId="{3A10AE2F-6F0A-4421-9F73-D08F91A1DB2A}" type="pres">
      <dgm:prSet presAssocID="{8AE806F2-C8D9-4DDF-8CF7-85A1283C25B5}" presName="iconRect" presStyleLbl="node1" presStyleIdx="3" presStyleCnt="4"/>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Laptop"/>
        </a:ext>
      </dgm:extLst>
    </dgm:pt>
    <dgm:pt modelId="{8E246B6D-2653-41C2-8DBC-2C9542ED6FBB}" type="pres">
      <dgm:prSet presAssocID="{8AE806F2-C8D9-4DDF-8CF7-85A1283C25B5}" presName="spaceRect" presStyleCnt="0"/>
      <dgm:spPr/>
    </dgm:pt>
    <dgm:pt modelId="{BCE2CCFB-3010-4833-9242-BFE98D90A355}" type="pres">
      <dgm:prSet presAssocID="{8AE806F2-C8D9-4DDF-8CF7-85A1283C25B5}" presName="textRect" presStyleLbl="revTx" presStyleIdx="3" presStyleCnt="4">
        <dgm:presLayoutVars>
          <dgm:chMax val="1"/>
          <dgm:chPref val="1"/>
        </dgm:presLayoutVars>
      </dgm:prSet>
      <dgm:spPr/>
    </dgm:pt>
  </dgm:ptLst>
  <dgm:cxnLst>
    <dgm:cxn modelId="{0D77731C-FDD5-4679-A2A6-D5B760CAD019}" srcId="{C930E702-208B-47A6-A0A4-FF177BF34427}" destId="{4E13C3D5-6B29-441F-9923-FB2C461305CA}" srcOrd="2" destOrd="0" parTransId="{AD83E11F-7B1B-4A51-8A5D-3765591EF64D}" sibTransId="{6443FC45-0429-4D06-869F-87D559690C75}"/>
    <dgm:cxn modelId="{A94EB32D-A6B0-4A5A-831D-CE77396A5C6F}" type="presOf" srcId="{8AE806F2-C8D9-4DDF-8CF7-85A1283C25B5}" destId="{BCE2CCFB-3010-4833-9242-BFE98D90A355}" srcOrd="0" destOrd="0" presId="urn:microsoft.com/office/officeart/2018/5/layout/IconCircleLabelList"/>
    <dgm:cxn modelId="{FBB7F578-2610-447D-882E-A24B7232214C}" type="presOf" srcId="{C930E702-208B-47A6-A0A4-FF177BF34427}" destId="{68CC937A-E077-4145-A888-D04A7A81E16D}" srcOrd="0" destOrd="0" presId="urn:microsoft.com/office/officeart/2018/5/layout/IconCircleLabelList"/>
    <dgm:cxn modelId="{87994D9E-75D7-436C-BC3F-F6ABD2346047}" type="presOf" srcId="{03EB3F27-EDF2-416F-8B30-82A79BFB68D9}" destId="{F3E009DE-D69A-49F8-BE2A-DBFDD71470A8}" srcOrd="0" destOrd="0" presId="urn:microsoft.com/office/officeart/2018/5/layout/IconCircleLabelList"/>
    <dgm:cxn modelId="{BCCB0DAD-9FC7-4860-9E09-B687EE8359AB}" type="presOf" srcId="{D842AB30-8FCF-4997-B7F4-B46DA4B8E5F2}" destId="{1B4CECE9-E8E6-44A1-A3DF-BA015033042E}" srcOrd="0" destOrd="0" presId="urn:microsoft.com/office/officeart/2018/5/layout/IconCircleLabelList"/>
    <dgm:cxn modelId="{10F861AD-A6F5-4DF7-B354-6C8960559FBE}" srcId="{C930E702-208B-47A6-A0A4-FF177BF34427}" destId="{8AE806F2-C8D9-4DDF-8CF7-85A1283C25B5}" srcOrd="3" destOrd="0" parTransId="{1BE56DDB-E172-443E-A4D9-1154BD05A0CE}" sibTransId="{2A5B1F6B-D7D7-4623-8D08-087141A8FA4D}"/>
    <dgm:cxn modelId="{9C6BA6D1-3304-4E55-A53A-83653C0E9DC2}" srcId="{C930E702-208B-47A6-A0A4-FF177BF34427}" destId="{03EB3F27-EDF2-416F-8B30-82A79BFB68D9}" srcOrd="0" destOrd="0" parTransId="{A5BB28B6-D0CB-4145-8501-D9CC8C0B40F5}" sibTransId="{3DD5E1CC-071F-4606-9C4A-76631992D29A}"/>
    <dgm:cxn modelId="{2ABB49EC-314D-427B-89E3-5D38594EED26}" srcId="{C930E702-208B-47A6-A0A4-FF177BF34427}" destId="{D842AB30-8FCF-4997-B7F4-B46DA4B8E5F2}" srcOrd="1" destOrd="0" parTransId="{34FA1893-B71F-4CBE-819B-FFF3AAF8C2C6}" sibTransId="{27A66EC3-2F7E-4979-ADFF-19D57EB93774}"/>
    <dgm:cxn modelId="{6F2E95FE-AA44-4FDC-BA41-5246A0FED1DE}" type="presOf" srcId="{4E13C3D5-6B29-441F-9923-FB2C461305CA}" destId="{8EDFF372-1615-4AF1-B302-BFDF8D403107}" srcOrd="0" destOrd="0" presId="urn:microsoft.com/office/officeart/2018/5/layout/IconCircleLabelList"/>
    <dgm:cxn modelId="{58C4B755-C81A-47D7-9325-241E655CBCF6}" type="presParOf" srcId="{68CC937A-E077-4145-A888-D04A7A81E16D}" destId="{22A751A4-02A4-48C7-9539-5635038966FB}" srcOrd="0" destOrd="0" presId="urn:microsoft.com/office/officeart/2018/5/layout/IconCircleLabelList"/>
    <dgm:cxn modelId="{B79D0B93-D162-461A-8BF0-E7085C5A6B5D}" type="presParOf" srcId="{22A751A4-02A4-48C7-9539-5635038966FB}" destId="{3A3592C1-A280-4647-BBAF-6E8228CE6EC1}" srcOrd="0" destOrd="0" presId="urn:microsoft.com/office/officeart/2018/5/layout/IconCircleLabelList"/>
    <dgm:cxn modelId="{59FC5683-5874-4D04-9358-CF59F7C49FFF}" type="presParOf" srcId="{22A751A4-02A4-48C7-9539-5635038966FB}" destId="{506256CF-CBF6-4122-A7F7-8ACDABE4E582}" srcOrd="1" destOrd="0" presId="urn:microsoft.com/office/officeart/2018/5/layout/IconCircleLabelList"/>
    <dgm:cxn modelId="{22E4CF95-835E-46A7-8779-4EFBAE664065}" type="presParOf" srcId="{22A751A4-02A4-48C7-9539-5635038966FB}" destId="{230C05F1-F881-4AD1-A664-91B78351FED1}" srcOrd="2" destOrd="0" presId="urn:microsoft.com/office/officeart/2018/5/layout/IconCircleLabelList"/>
    <dgm:cxn modelId="{C9C7C249-E489-460B-9743-840DE6995BBE}" type="presParOf" srcId="{22A751A4-02A4-48C7-9539-5635038966FB}" destId="{F3E009DE-D69A-49F8-BE2A-DBFDD71470A8}" srcOrd="3" destOrd="0" presId="urn:microsoft.com/office/officeart/2018/5/layout/IconCircleLabelList"/>
    <dgm:cxn modelId="{DB4F276D-B72F-4328-9683-AB75B28E87E2}" type="presParOf" srcId="{68CC937A-E077-4145-A888-D04A7A81E16D}" destId="{02C8EDBD-CDA6-4985-819C-6EF64575E3A5}" srcOrd="1" destOrd="0" presId="urn:microsoft.com/office/officeart/2018/5/layout/IconCircleLabelList"/>
    <dgm:cxn modelId="{ADBE9B65-31F9-4E90-A7B1-6065BEC69D81}" type="presParOf" srcId="{68CC937A-E077-4145-A888-D04A7A81E16D}" destId="{175C2579-02F9-431D-8C59-E8C29546A1BE}" srcOrd="2" destOrd="0" presId="urn:microsoft.com/office/officeart/2018/5/layout/IconCircleLabelList"/>
    <dgm:cxn modelId="{552C982B-4D63-4B44-B96D-E5689119C799}" type="presParOf" srcId="{175C2579-02F9-431D-8C59-E8C29546A1BE}" destId="{F8B86A96-83FE-4CEF-B117-4AF9BD43072C}" srcOrd="0" destOrd="0" presId="urn:microsoft.com/office/officeart/2018/5/layout/IconCircleLabelList"/>
    <dgm:cxn modelId="{713A0B26-F856-4540-A1C3-6FB111B802A8}" type="presParOf" srcId="{175C2579-02F9-431D-8C59-E8C29546A1BE}" destId="{8C12F443-4A3B-4330-B66D-9ED4EF0D11C3}" srcOrd="1" destOrd="0" presId="urn:microsoft.com/office/officeart/2018/5/layout/IconCircleLabelList"/>
    <dgm:cxn modelId="{9D43317C-73A1-4234-87F4-B32223472960}" type="presParOf" srcId="{175C2579-02F9-431D-8C59-E8C29546A1BE}" destId="{65692D91-46AC-4DA9-880C-D231B4A40AC8}" srcOrd="2" destOrd="0" presId="urn:microsoft.com/office/officeart/2018/5/layout/IconCircleLabelList"/>
    <dgm:cxn modelId="{210ACAF2-A0C8-4AA9-B565-FB162A9462BC}" type="presParOf" srcId="{175C2579-02F9-431D-8C59-E8C29546A1BE}" destId="{1B4CECE9-E8E6-44A1-A3DF-BA015033042E}" srcOrd="3" destOrd="0" presId="urn:microsoft.com/office/officeart/2018/5/layout/IconCircleLabelList"/>
    <dgm:cxn modelId="{608747D9-EF27-4060-85FA-EE8218744268}" type="presParOf" srcId="{68CC937A-E077-4145-A888-D04A7A81E16D}" destId="{C62B7FA6-2D02-4593-82EB-B3F5247F0308}" srcOrd="3" destOrd="0" presId="urn:microsoft.com/office/officeart/2018/5/layout/IconCircleLabelList"/>
    <dgm:cxn modelId="{A29CDD51-F8AB-46DF-AB92-5D6958DB2488}" type="presParOf" srcId="{68CC937A-E077-4145-A888-D04A7A81E16D}" destId="{227365F7-D7EF-47E4-BFE2-5B7294FF664B}" srcOrd="4" destOrd="0" presId="urn:microsoft.com/office/officeart/2018/5/layout/IconCircleLabelList"/>
    <dgm:cxn modelId="{4D9B0A96-562D-488B-A9C9-AEB85D2EE66F}" type="presParOf" srcId="{227365F7-D7EF-47E4-BFE2-5B7294FF664B}" destId="{F5346287-DA82-42F6-8204-BE5ACA2033BC}" srcOrd="0" destOrd="0" presId="urn:microsoft.com/office/officeart/2018/5/layout/IconCircleLabelList"/>
    <dgm:cxn modelId="{33FB55D3-FDAE-41B6-ABA9-787D3F811C2C}" type="presParOf" srcId="{227365F7-D7EF-47E4-BFE2-5B7294FF664B}" destId="{13EA1D7B-5479-465C-A355-15F52427CCC7}" srcOrd="1" destOrd="0" presId="urn:microsoft.com/office/officeart/2018/5/layout/IconCircleLabelList"/>
    <dgm:cxn modelId="{B0A4F6D3-4EDE-492D-AB56-E5B7C1A4BA12}" type="presParOf" srcId="{227365F7-D7EF-47E4-BFE2-5B7294FF664B}" destId="{312F31D8-116C-4ED6-8462-82CC3EE866E9}" srcOrd="2" destOrd="0" presId="urn:microsoft.com/office/officeart/2018/5/layout/IconCircleLabelList"/>
    <dgm:cxn modelId="{3CC51E99-4C3A-4AAD-95FF-385592AEB021}" type="presParOf" srcId="{227365F7-D7EF-47E4-BFE2-5B7294FF664B}" destId="{8EDFF372-1615-4AF1-B302-BFDF8D403107}" srcOrd="3" destOrd="0" presId="urn:microsoft.com/office/officeart/2018/5/layout/IconCircleLabelList"/>
    <dgm:cxn modelId="{DB5B42E7-25A3-40C6-B7EC-37625D30B0EA}" type="presParOf" srcId="{68CC937A-E077-4145-A888-D04A7A81E16D}" destId="{674286B7-B308-4164-9FB4-DE9FC6FA7AB1}" srcOrd="5" destOrd="0" presId="urn:microsoft.com/office/officeart/2018/5/layout/IconCircleLabelList"/>
    <dgm:cxn modelId="{0F45AE5B-CA12-4219-8AD8-072AACAA8283}" type="presParOf" srcId="{68CC937A-E077-4145-A888-D04A7A81E16D}" destId="{31A6837C-4275-4B21-B160-78C6558ADA7E}" srcOrd="6" destOrd="0" presId="urn:microsoft.com/office/officeart/2018/5/layout/IconCircleLabelList"/>
    <dgm:cxn modelId="{F4A5A045-E4A0-44AC-82A0-BD774913F334}" type="presParOf" srcId="{31A6837C-4275-4B21-B160-78C6558ADA7E}" destId="{E1B1F858-8C96-4376-AF3A-E2B18EEF01B9}" srcOrd="0" destOrd="0" presId="urn:microsoft.com/office/officeart/2018/5/layout/IconCircleLabelList"/>
    <dgm:cxn modelId="{6959A532-6BF1-4311-ACB6-691FAF278BFE}" type="presParOf" srcId="{31A6837C-4275-4B21-B160-78C6558ADA7E}" destId="{3A10AE2F-6F0A-4421-9F73-D08F91A1DB2A}" srcOrd="1" destOrd="0" presId="urn:microsoft.com/office/officeart/2018/5/layout/IconCircleLabelList"/>
    <dgm:cxn modelId="{114B00E3-8E24-4657-8868-2A3D3F4082D9}" type="presParOf" srcId="{31A6837C-4275-4B21-B160-78C6558ADA7E}" destId="{8E246B6D-2653-41C2-8DBC-2C9542ED6FBB}" srcOrd="2" destOrd="0" presId="urn:microsoft.com/office/officeart/2018/5/layout/IconCircleLabelList"/>
    <dgm:cxn modelId="{6B30E83F-5101-47E0-9162-D067B0F78086}" type="presParOf" srcId="{31A6837C-4275-4B21-B160-78C6558ADA7E}" destId="{BCE2CCFB-3010-4833-9242-BFE98D90A35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592C1-A280-4647-BBAF-6E8228CE6EC1}">
      <dsp:nvSpPr>
        <dsp:cNvPr id="0" name=""/>
        <dsp:cNvSpPr/>
      </dsp:nvSpPr>
      <dsp:spPr>
        <a:xfrm>
          <a:off x="772201" y="634470"/>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256CF-CBF6-4122-A7F7-8ACDABE4E582}">
      <dsp:nvSpPr>
        <dsp:cNvPr id="0" name=""/>
        <dsp:cNvSpPr/>
      </dsp:nvSpPr>
      <dsp:spPr>
        <a:xfrm>
          <a:off x="1006201" y="86847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3E009DE-D69A-49F8-BE2A-DBFDD71470A8}">
      <dsp:nvSpPr>
        <dsp:cNvPr id="0" name=""/>
        <dsp:cNvSpPr/>
      </dsp:nvSpPr>
      <dsp:spPr>
        <a:xfrm>
          <a:off x="421201" y="2074470"/>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Azure.com service overviews</a:t>
          </a:r>
          <a:br>
            <a:rPr lang="en-US" sz="1100" kern="1200"/>
          </a:br>
          <a:r>
            <a:rPr lang="en-US" sz="1100" kern="1200">
              <a:hlinkClick xmlns:r="http://schemas.openxmlformats.org/officeDocument/2006/relationships" r:id="rId3"/>
            </a:rPr>
            <a:t>https://aka.ms/containersonazure</a:t>
          </a:r>
          <a:r>
            <a:rPr lang="en-US" sz="1100" kern="1200"/>
            <a:t>  </a:t>
          </a:r>
        </a:p>
      </dsp:txBody>
      <dsp:txXfrm>
        <a:off x="421201" y="2074470"/>
        <a:ext cx="1800000" cy="945000"/>
      </dsp:txXfrm>
    </dsp:sp>
    <dsp:sp modelId="{F8B86A96-83FE-4CEF-B117-4AF9BD43072C}">
      <dsp:nvSpPr>
        <dsp:cNvPr id="0" name=""/>
        <dsp:cNvSpPr/>
      </dsp:nvSpPr>
      <dsp:spPr>
        <a:xfrm>
          <a:off x="2887202" y="634470"/>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12F443-4A3B-4330-B66D-9ED4EF0D11C3}">
      <dsp:nvSpPr>
        <dsp:cNvPr id="0" name=""/>
        <dsp:cNvSpPr/>
      </dsp:nvSpPr>
      <dsp:spPr>
        <a:xfrm>
          <a:off x="3121202" y="868470"/>
          <a:ext cx="630000" cy="63000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4CECE9-E8E6-44A1-A3DF-BA015033042E}">
      <dsp:nvSpPr>
        <dsp:cNvPr id="0" name=""/>
        <dsp:cNvSpPr/>
      </dsp:nvSpPr>
      <dsp:spPr>
        <a:xfrm>
          <a:off x="2536202" y="2074470"/>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Microsoft Docs - Documentation for container related services</a:t>
          </a:r>
          <a:br>
            <a:rPr lang="en-US" sz="1100" kern="1200"/>
          </a:br>
          <a:r>
            <a:rPr lang="en-US" sz="1100" kern="1200">
              <a:hlinkClick xmlns:r="http://schemas.openxmlformats.org/officeDocument/2006/relationships" r:id="rId6"/>
            </a:rPr>
            <a:t>https://aka.ms/containerdocs</a:t>
          </a:r>
          <a:endParaRPr lang="en-US" sz="1100" kern="1200"/>
        </a:p>
      </dsp:txBody>
      <dsp:txXfrm>
        <a:off x="2536202" y="2074470"/>
        <a:ext cx="1800000" cy="945000"/>
      </dsp:txXfrm>
    </dsp:sp>
    <dsp:sp modelId="{F5346287-DA82-42F6-8204-BE5ACA2033BC}">
      <dsp:nvSpPr>
        <dsp:cNvPr id="0" name=""/>
        <dsp:cNvSpPr/>
      </dsp:nvSpPr>
      <dsp:spPr>
        <a:xfrm>
          <a:off x="5002201" y="634470"/>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A1D7B-5479-465C-A355-15F52427CCC7}">
      <dsp:nvSpPr>
        <dsp:cNvPr id="0" name=""/>
        <dsp:cNvSpPr/>
      </dsp:nvSpPr>
      <dsp:spPr>
        <a:xfrm>
          <a:off x="5236201" y="86847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EDFF372-1615-4AF1-B302-BFDF8D403107}">
      <dsp:nvSpPr>
        <dsp:cNvPr id="0" name=""/>
        <dsp:cNvSpPr/>
      </dsp:nvSpPr>
      <dsp:spPr>
        <a:xfrm>
          <a:off x="4651201" y="2074470"/>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MSDN Channel 9 – Videos covering Azure and Containers</a:t>
          </a:r>
          <a:br>
            <a:rPr lang="en-US" sz="1100" kern="1200"/>
          </a:br>
          <a:r>
            <a:rPr lang="en-US" sz="1100" kern="1200">
              <a:hlinkClick xmlns:r="http://schemas.openxmlformats.org/officeDocument/2006/relationships" r:id="rId9"/>
            </a:rPr>
            <a:t>https://channel9.msdn.com/</a:t>
          </a:r>
          <a:endParaRPr lang="en-US" sz="1100" kern="1200"/>
        </a:p>
      </dsp:txBody>
      <dsp:txXfrm>
        <a:off x="4651201" y="2074470"/>
        <a:ext cx="1800000" cy="945000"/>
      </dsp:txXfrm>
    </dsp:sp>
    <dsp:sp modelId="{E1B1F858-8C96-4376-AF3A-E2B18EEF01B9}">
      <dsp:nvSpPr>
        <dsp:cNvPr id="0" name=""/>
        <dsp:cNvSpPr/>
      </dsp:nvSpPr>
      <dsp:spPr>
        <a:xfrm>
          <a:off x="7117202" y="634470"/>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0AE2F-6F0A-4421-9F73-D08F91A1DB2A}">
      <dsp:nvSpPr>
        <dsp:cNvPr id="0" name=""/>
        <dsp:cNvSpPr/>
      </dsp:nvSpPr>
      <dsp:spPr>
        <a:xfrm>
          <a:off x="7351202" y="868470"/>
          <a:ext cx="630000" cy="630000"/>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CE2CCFB-3010-4833-9242-BFE98D90A355}">
      <dsp:nvSpPr>
        <dsp:cNvPr id="0" name=""/>
        <dsp:cNvSpPr/>
      </dsp:nvSpPr>
      <dsp:spPr>
        <a:xfrm>
          <a:off x="6766202" y="2074470"/>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Microsoft Virtual academy – online training courses</a:t>
          </a:r>
          <a:br>
            <a:rPr lang="en-US" sz="1100" kern="1200"/>
          </a:br>
          <a:r>
            <a:rPr lang="en-US" sz="1100" kern="1200">
              <a:hlinkClick xmlns:r="http://schemas.openxmlformats.org/officeDocument/2006/relationships" r:id="rId12"/>
            </a:rPr>
            <a:t>https://mva.microsoft.com/</a:t>
          </a:r>
          <a:endParaRPr lang="en-US" sz="1100" kern="1200"/>
        </a:p>
      </dsp:txBody>
      <dsp:txXfrm>
        <a:off x="6766202" y="2074470"/>
        <a:ext cx="1800000" cy="945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7549C-C90C-4372-8B93-AC58A10843FA}" type="datetimeFigureOut">
              <a:rPr lang="en-US" smtClean="0"/>
              <a:t>12/31/2025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CFF0B0-89C7-40B6-9776-776B85B56DD1}" type="slidenum">
              <a:rPr lang="en-US" smtClean="0"/>
              <a:t>‹#›</a:t>
            </a:fld>
            <a:endParaRPr lang="en-US"/>
          </a:p>
        </p:txBody>
      </p:sp>
    </p:spTree>
    <p:extLst>
      <p:ext uri="{BB962C8B-B14F-4D97-AF65-F5344CB8AC3E}">
        <p14:creationId xmlns:p14="http://schemas.microsoft.com/office/powerpoint/2010/main" val="257265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CFF0B0-89C7-40B6-9776-776B85B56DD1}" type="slidenum">
              <a:rPr lang="en-US" smtClean="0"/>
              <a:t>1</a:t>
            </a:fld>
            <a:endParaRPr lang="en-US"/>
          </a:p>
        </p:txBody>
      </p:sp>
    </p:spTree>
    <p:extLst>
      <p:ext uri="{BB962C8B-B14F-4D97-AF65-F5344CB8AC3E}">
        <p14:creationId xmlns:p14="http://schemas.microsoft.com/office/powerpoint/2010/main" val="3329726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12/31/2025 1:33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622365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12/31/2025 1:33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58872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CFF0B0-89C7-40B6-9776-776B85B56DD1}" type="slidenum">
              <a:rPr lang="en-US" smtClean="0"/>
              <a:t>10</a:t>
            </a:fld>
            <a:endParaRPr lang="en-US"/>
          </a:p>
        </p:txBody>
      </p:sp>
    </p:spTree>
    <p:extLst>
      <p:ext uri="{BB962C8B-B14F-4D97-AF65-F5344CB8AC3E}">
        <p14:creationId xmlns:p14="http://schemas.microsoft.com/office/powerpoint/2010/main" val="2223946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In a </a:t>
            </a:r>
            <a:r>
              <a:rPr lang="en-US" dirty="0" err="1">
                <a:effectLst/>
              </a:rPr>
              <a:t>microservices</a:t>
            </a:r>
            <a:r>
              <a:rPr lang="en-US" dirty="0">
                <a:effectLst/>
              </a:rPr>
              <a:t> architecture, services are small, independent, and loosely coupled.</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Each service is a separate codebase, which can be managed by a small development team.</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Services can be deployed independently. A team can update an existing service without rebuilding and redeploying the entire application.</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Services are responsible for persisting their own data or external state. This differs from the traditional model, where a separate data layer handles data persistence.</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Services communicate with each other by using well-defined APIs. Internal implementation details of each service are hidden from other services.</a:t>
            </a:r>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r>
              <a:rPr lang="en-US" dirty="0">
                <a:effectLst/>
              </a:rPr>
              <a:t>Services don't need to share the same technology stack, libraries, or frameworks.</a:t>
            </a:r>
          </a:p>
          <a:p>
            <a:endParaRPr lang="en-US" dirty="0"/>
          </a:p>
        </p:txBody>
      </p:sp>
      <p:sp>
        <p:nvSpPr>
          <p:cNvPr id="4" name="Slide Number Placeholder 3"/>
          <p:cNvSpPr>
            <a:spLocks noGrp="1"/>
          </p:cNvSpPr>
          <p:nvPr>
            <p:ph type="sldNum" sz="quarter" idx="10"/>
          </p:nvPr>
        </p:nvSpPr>
        <p:spPr/>
        <p:txBody>
          <a:bodyPr/>
          <a:lstStyle/>
          <a:p>
            <a:fld id="{06CFF0B0-89C7-40B6-9776-776B85B56DD1}" type="slidenum">
              <a:rPr lang="en-US" smtClean="0"/>
              <a:t>11</a:t>
            </a:fld>
            <a:endParaRPr lang="en-US"/>
          </a:p>
        </p:txBody>
      </p:sp>
    </p:spTree>
    <p:extLst>
      <p:ext uri="{BB962C8B-B14F-4D97-AF65-F5344CB8AC3E}">
        <p14:creationId xmlns:p14="http://schemas.microsoft.com/office/powerpoint/2010/main" val="3306460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CFF0B0-89C7-40B6-9776-776B85B56DD1}" type="slidenum">
              <a:rPr lang="en-US" smtClean="0"/>
              <a:t>12</a:t>
            </a:fld>
            <a:endParaRPr lang="en-US"/>
          </a:p>
        </p:txBody>
      </p:sp>
    </p:spTree>
    <p:extLst>
      <p:ext uri="{BB962C8B-B14F-4D97-AF65-F5344CB8AC3E}">
        <p14:creationId xmlns:p14="http://schemas.microsoft.com/office/powerpoint/2010/main" val="3754458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Management</a:t>
            </a:r>
            <a:r>
              <a:rPr lang="en-US" dirty="0">
                <a:effectLst/>
              </a:rPr>
              <a:t>. The management component is responsible for placing services on nodes, identifying failures, rebalancing services across nodes, and so forth.+</a:t>
            </a:r>
          </a:p>
          <a:p>
            <a:endParaRPr lang="en-US" b="1" dirty="0">
              <a:effectLst/>
            </a:endParaRPr>
          </a:p>
          <a:p>
            <a:r>
              <a:rPr lang="en-US" b="1" dirty="0">
                <a:effectLst/>
              </a:rPr>
              <a:t>Service Discovery</a:t>
            </a:r>
            <a:r>
              <a:rPr lang="en-US" dirty="0">
                <a:effectLst/>
              </a:rPr>
              <a:t>. Maintains a list of services and which nodes they are located on. Enables service lookup to find the endpoint for a service.</a:t>
            </a:r>
          </a:p>
          <a:p>
            <a:endParaRPr lang="en-US" b="1" dirty="0">
              <a:effectLst/>
            </a:endParaRPr>
          </a:p>
          <a:p>
            <a:r>
              <a:rPr lang="en-US" b="1" dirty="0">
                <a:effectLst/>
              </a:rPr>
              <a:t>API Gateway</a:t>
            </a:r>
            <a:r>
              <a:rPr lang="en-US" dirty="0">
                <a:effectLst/>
              </a:rPr>
              <a:t>. The API gateway is the entry point for clients. Clients don't call services directly. Instead, they call the API gateway, which forwards the call to the appropriate services on the back end. The API gateway might aggregate the responses from several services and return the aggregated response.</a:t>
            </a:r>
          </a:p>
          <a:p>
            <a:endParaRPr lang="en-US" dirty="0"/>
          </a:p>
        </p:txBody>
      </p:sp>
      <p:sp>
        <p:nvSpPr>
          <p:cNvPr id="4" name="Slide Number Placeholder 3"/>
          <p:cNvSpPr>
            <a:spLocks noGrp="1"/>
          </p:cNvSpPr>
          <p:nvPr>
            <p:ph type="sldNum" sz="quarter" idx="10"/>
          </p:nvPr>
        </p:nvSpPr>
        <p:spPr/>
        <p:txBody>
          <a:bodyPr/>
          <a:lstStyle/>
          <a:p>
            <a:fld id="{06CFF0B0-89C7-40B6-9776-776B85B56DD1}" type="slidenum">
              <a:rPr lang="en-US" smtClean="0"/>
              <a:t>13</a:t>
            </a:fld>
            <a:endParaRPr lang="en-US"/>
          </a:p>
        </p:txBody>
      </p:sp>
    </p:spTree>
    <p:extLst>
      <p:ext uri="{BB962C8B-B14F-4D97-AF65-F5344CB8AC3E}">
        <p14:creationId xmlns:p14="http://schemas.microsoft.com/office/powerpoint/2010/main" val="3699639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effectLst/>
              </a:rPr>
              <a:t>Automatic </a:t>
            </a:r>
            <a:r>
              <a:rPr lang="en-US" sz="1200" dirty="0" err="1">
                <a:effectLst/>
              </a:rPr>
              <a:t>binpacking</a:t>
            </a:r>
            <a:endParaRPr lang="en-US" sz="1200" dirty="0">
              <a:effectLst/>
            </a:endParaRPr>
          </a:p>
          <a:p>
            <a:pPr marL="171450" indent="-171450">
              <a:buFont typeface="Arial" panose="020B0604020202020204" pitchFamily="34" charset="0"/>
              <a:buChar char="•"/>
            </a:pPr>
            <a:r>
              <a:rPr lang="en-US" sz="1200" dirty="0">
                <a:effectLst/>
              </a:rPr>
              <a:t>Self-healing</a:t>
            </a:r>
          </a:p>
          <a:p>
            <a:pPr marL="171450" indent="-171450">
              <a:buFont typeface="Arial" panose="020B0604020202020204" pitchFamily="34" charset="0"/>
              <a:buChar char="•"/>
            </a:pPr>
            <a:r>
              <a:rPr lang="en-US" sz="1200" dirty="0">
                <a:effectLst/>
              </a:rPr>
              <a:t>Horizontal scaling</a:t>
            </a:r>
          </a:p>
          <a:p>
            <a:pPr marL="171450" indent="-171450">
              <a:buFont typeface="Arial" panose="020B0604020202020204" pitchFamily="34" charset="0"/>
              <a:buChar char="•"/>
            </a:pPr>
            <a:r>
              <a:rPr lang="en-US" sz="1200" dirty="0">
                <a:effectLst/>
              </a:rPr>
              <a:t>Service discovery and load balancing</a:t>
            </a:r>
          </a:p>
          <a:p>
            <a:pPr marL="171450" indent="-171450">
              <a:buFont typeface="Arial" panose="020B0604020202020204" pitchFamily="34" charset="0"/>
              <a:buChar char="•"/>
            </a:pPr>
            <a:r>
              <a:rPr lang="en-US" sz="1200" dirty="0">
                <a:effectLst/>
              </a:rPr>
              <a:t>Automated rollouts and rollbacks</a:t>
            </a:r>
          </a:p>
          <a:p>
            <a:pPr marL="171450" indent="-171450">
              <a:buFont typeface="Arial" panose="020B0604020202020204" pitchFamily="34" charset="0"/>
              <a:buChar char="•"/>
            </a:pPr>
            <a:r>
              <a:rPr lang="en-US" sz="1200" dirty="0">
                <a:effectLst/>
              </a:rPr>
              <a:t>Secret and configuration management</a:t>
            </a:r>
          </a:p>
          <a:p>
            <a:pPr marL="171450" indent="-171450">
              <a:buFont typeface="Arial" panose="020B0604020202020204" pitchFamily="34" charset="0"/>
              <a:buChar char="•"/>
            </a:pPr>
            <a:r>
              <a:rPr lang="en-US" sz="1200" dirty="0">
                <a:effectLst/>
              </a:rPr>
              <a:t>Storage orchestration</a:t>
            </a:r>
          </a:p>
          <a:p>
            <a:pPr marL="171450" indent="-171450">
              <a:buFont typeface="Arial" panose="020B0604020202020204" pitchFamily="34" charset="0"/>
              <a:buChar char="•"/>
            </a:pPr>
            <a:r>
              <a:rPr lang="en-US" sz="1200" dirty="0">
                <a:effectLst/>
              </a:rPr>
              <a:t>Batch execution</a:t>
            </a:r>
          </a:p>
          <a:p>
            <a:endParaRPr lang="en-GB" dirty="0"/>
          </a:p>
        </p:txBody>
      </p:sp>
      <p:sp>
        <p:nvSpPr>
          <p:cNvPr id="4" name="Header Placeholder 3"/>
          <p:cNvSpPr>
            <a:spLocks noGrp="1"/>
          </p:cNvSpPr>
          <p:nvPr>
            <p:ph type="hdr" sz="quarter" idx="10"/>
          </p:nvPr>
        </p:nvSpPr>
        <p:spPr/>
        <p:txBody>
          <a:bodyPr/>
          <a:lstStyle/>
          <a:p>
            <a:r>
              <a:rPr lang="en-GB"/>
              <a:t>Microsoft and Container - Marcus Robinson @techdiction</a:t>
            </a:r>
          </a:p>
        </p:txBody>
      </p:sp>
      <p:sp>
        <p:nvSpPr>
          <p:cNvPr id="5" name="Slide Number Placeholder 4"/>
          <p:cNvSpPr>
            <a:spLocks noGrp="1"/>
          </p:cNvSpPr>
          <p:nvPr>
            <p:ph type="sldNum" sz="quarter" idx="11"/>
          </p:nvPr>
        </p:nvSpPr>
        <p:spPr/>
        <p:txBody>
          <a:bodyPr/>
          <a:lstStyle/>
          <a:p>
            <a:fld id="{4BDF79CD-0966-4EE4-BEF0-FA2E43C70310}" type="slidenum">
              <a:rPr lang="en-GB" smtClean="0"/>
              <a:t>14</a:t>
            </a:fld>
            <a:endParaRPr lang="en-GB"/>
          </a:p>
        </p:txBody>
      </p:sp>
    </p:spTree>
    <p:extLst>
      <p:ext uri="{BB962C8B-B14F-4D97-AF65-F5344CB8AC3E}">
        <p14:creationId xmlns:p14="http://schemas.microsoft.com/office/powerpoint/2010/main" val="3301043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idx="10"/>
          </p:nvPr>
        </p:nvSpPr>
        <p:spPr/>
        <p:txBody>
          <a:bodyPr/>
          <a:lstStyle/>
          <a:p>
            <a:r>
              <a:rPr lang="en-GB"/>
              <a:t>Microsoft and Container - Marcus Robinson @techdiction</a:t>
            </a:r>
          </a:p>
        </p:txBody>
      </p:sp>
      <p:sp>
        <p:nvSpPr>
          <p:cNvPr id="5" name="Slide Number Placeholder 4"/>
          <p:cNvSpPr>
            <a:spLocks noGrp="1"/>
          </p:cNvSpPr>
          <p:nvPr>
            <p:ph type="sldNum" sz="quarter" idx="11"/>
          </p:nvPr>
        </p:nvSpPr>
        <p:spPr/>
        <p:txBody>
          <a:bodyPr/>
          <a:lstStyle/>
          <a:p>
            <a:fld id="{4BDF79CD-0966-4EE4-BEF0-FA2E43C70310}" type="slidenum">
              <a:rPr lang="en-GB" smtClean="0"/>
              <a:t>15</a:t>
            </a:fld>
            <a:endParaRPr lang="en-GB"/>
          </a:p>
        </p:txBody>
      </p:sp>
    </p:spTree>
    <p:extLst>
      <p:ext uri="{BB962C8B-B14F-4D97-AF65-F5344CB8AC3E}">
        <p14:creationId xmlns:p14="http://schemas.microsoft.com/office/powerpoint/2010/main" val="2736349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CFF0B0-89C7-40B6-9776-776B85B56DD1}" type="slidenum">
              <a:rPr lang="en-US" smtClean="0"/>
              <a:t>16</a:t>
            </a:fld>
            <a:endParaRPr lang="en-US"/>
          </a:p>
        </p:txBody>
      </p:sp>
    </p:spTree>
    <p:extLst>
      <p:ext uri="{BB962C8B-B14F-4D97-AF65-F5344CB8AC3E}">
        <p14:creationId xmlns:p14="http://schemas.microsoft.com/office/powerpoint/2010/main" val="3379666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Independent deployments</a:t>
            </a:r>
            <a:r>
              <a:rPr lang="en-US" dirty="0">
                <a:effectLst/>
              </a:rPr>
              <a:t>. You can update a service without redeploying the entire application, and roll back or roll forward an update if something goes wrong. Bug fixes and feature releases are more manageable and less risky.</a:t>
            </a:r>
          </a:p>
          <a:p>
            <a:endParaRPr lang="en-US" b="1" dirty="0">
              <a:effectLst/>
            </a:endParaRPr>
          </a:p>
          <a:p>
            <a:r>
              <a:rPr lang="en-US" b="1" dirty="0">
                <a:effectLst/>
              </a:rPr>
              <a:t>Independent development</a:t>
            </a:r>
            <a:r>
              <a:rPr lang="en-US" dirty="0">
                <a:effectLst/>
              </a:rPr>
              <a:t>. A single development team can build, test, and deploy a service. The result is continuous innovation and a faster release cadence.</a:t>
            </a:r>
          </a:p>
          <a:p>
            <a:endParaRPr lang="en-US" b="1" dirty="0">
              <a:effectLst/>
            </a:endParaRPr>
          </a:p>
          <a:p>
            <a:r>
              <a:rPr lang="en-US" b="1" dirty="0">
                <a:effectLst/>
              </a:rPr>
              <a:t>Small, focused teams</a:t>
            </a:r>
            <a:r>
              <a:rPr lang="en-US" dirty="0">
                <a:effectLst/>
              </a:rPr>
              <a:t>. Teams can focus on one service. The smaller scope of each service makes the code base easier to understand, and it's easier for new team members to ramp up.</a:t>
            </a:r>
          </a:p>
          <a:p>
            <a:endParaRPr lang="en-US" b="1" dirty="0">
              <a:effectLst/>
            </a:endParaRPr>
          </a:p>
          <a:p>
            <a:r>
              <a:rPr lang="en-US" b="1" dirty="0">
                <a:effectLst/>
              </a:rPr>
              <a:t>Fault isolation</a:t>
            </a:r>
            <a:r>
              <a:rPr lang="en-US" dirty="0">
                <a:effectLst/>
              </a:rPr>
              <a:t>. If a service goes down, it won't take out the entire application. However, that doesn't mean you get resiliency for free. You still need to follow resiliency best practices and design patterns.</a:t>
            </a:r>
          </a:p>
          <a:p>
            <a:endParaRPr lang="en-US" b="1" dirty="0">
              <a:effectLst/>
            </a:endParaRPr>
          </a:p>
          <a:p>
            <a:r>
              <a:rPr lang="en-US" b="1" dirty="0">
                <a:effectLst/>
              </a:rPr>
              <a:t>Mixed technology stacks</a:t>
            </a:r>
            <a:r>
              <a:rPr lang="en-US" dirty="0">
                <a:effectLst/>
              </a:rPr>
              <a:t>. Teams can pick the technology that best fits their service.</a:t>
            </a:r>
          </a:p>
          <a:p>
            <a:endParaRPr lang="en-US" b="1" dirty="0">
              <a:effectLst/>
            </a:endParaRPr>
          </a:p>
          <a:p>
            <a:r>
              <a:rPr lang="en-US" b="1" dirty="0">
                <a:effectLst/>
              </a:rPr>
              <a:t>Granular scaling</a:t>
            </a:r>
            <a:r>
              <a:rPr lang="en-US" dirty="0">
                <a:effectLst/>
              </a:rPr>
              <a:t>. Services can be scaled independently. At the same time, the higher density of services per VM means that VM resources are fully utilized. Using placement constraints, a services can be matched to a VM profile (high CPU, high memory, and so on).</a:t>
            </a:r>
          </a:p>
        </p:txBody>
      </p:sp>
      <p:sp>
        <p:nvSpPr>
          <p:cNvPr id="4" name="Slide Number Placeholder 3"/>
          <p:cNvSpPr>
            <a:spLocks noGrp="1"/>
          </p:cNvSpPr>
          <p:nvPr>
            <p:ph type="sldNum" sz="quarter" idx="10"/>
          </p:nvPr>
        </p:nvSpPr>
        <p:spPr/>
        <p:txBody>
          <a:bodyPr/>
          <a:lstStyle/>
          <a:p>
            <a:fld id="{06CFF0B0-89C7-40B6-9776-776B85B56DD1}" type="slidenum">
              <a:rPr lang="en-US" smtClean="0"/>
              <a:t>17</a:t>
            </a:fld>
            <a:endParaRPr lang="en-US"/>
          </a:p>
        </p:txBody>
      </p:sp>
    </p:spTree>
    <p:extLst>
      <p:ext uri="{BB962C8B-B14F-4D97-AF65-F5344CB8AC3E}">
        <p14:creationId xmlns:p14="http://schemas.microsoft.com/office/powerpoint/2010/main" val="1164396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Independent deployments</a:t>
            </a:r>
            <a:r>
              <a:rPr lang="en-US" dirty="0">
                <a:effectLst/>
              </a:rPr>
              <a:t>. You can update a service without redeploying the entire application, and roll back or roll forward an update if something goes wrong. Bug fixes and feature releases are more manageable and less risky.</a:t>
            </a:r>
          </a:p>
          <a:p>
            <a:r>
              <a:rPr lang="en-US" b="1" dirty="0">
                <a:effectLst/>
              </a:rPr>
              <a:t>Independent development</a:t>
            </a:r>
            <a:r>
              <a:rPr lang="en-US" dirty="0">
                <a:effectLst/>
              </a:rPr>
              <a:t>. A single development team can build, test, and deploy a service. The result is continuous innovation and a faster release cadence.</a:t>
            </a:r>
          </a:p>
          <a:p>
            <a:r>
              <a:rPr lang="en-US" b="1" dirty="0">
                <a:effectLst/>
              </a:rPr>
              <a:t>Small, focused teams</a:t>
            </a:r>
            <a:r>
              <a:rPr lang="en-US" dirty="0">
                <a:effectLst/>
              </a:rPr>
              <a:t>. Teams can focus on one service. The smaller scope of each service makes the code base easier to understand, and it's easier for new team members to ramp up.</a:t>
            </a:r>
          </a:p>
          <a:p>
            <a:r>
              <a:rPr lang="en-US" b="1" dirty="0">
                <a:effectLst/>
              </a:rPr>
              <a:t>Fault isolation</a:t>
            </a:r>
            <a:r>
              <a:rPr lang="en-US" dirty="0">
                <a:effectLst/>
              </a:rPr>
              <a:t>. If a service goes down, it won't take out the entire application. However, that doesn't mean you get resiliency for free. You still need to follow resiliency best practices and design patterns.</a:t>
            </a:r>
          </a:p>
          <a:p>
            <a:r>
              <a:rPr lang="en-US" b="1" dirty="0">
                <a:effectLst/>
              </a:rPr>
              <a:t>Mixed technology stacks</a:t>
            </a:r>
            <a:r>
              <a:rPr lang="en-US" dirty="0">
                <a:effectLst/>
              </a:rPr>
              <a:t>. Teams can pick the technology that best fits their service.</a:t>
            </a:r>
          </a:p>
          <a:p>
            <a:r>
              <a:rPr lang="en-US" b="1" dirty="0">
                <a:effectLst/>
              </a:rPr>
              <a:t>Granular scaling</a:t>
            </a:r>
            <a:r>
              <a:rPr lang="en-US" dirty="0">
                <a:effectLst/>
              </a:rPr>
              <a:t>. Services can be scaled independently. At the same time, the higher density of services per VM means that VM resources are fully utilized. Using placement constraints, a services can be matched to a VM profile (high CPU, high memory, and so on).</a:t>
            </a:r>
          </a:p>
          <a:p>
            <a:endParaRPr lang="en-US" dirty="0"/>
          </a:p>
        </p:txBody>
      </p:sp>
      <p:sp>
        <p:nvSpPr>
          <p:cNvPr id="4" name="Slide Number Placeholder 3"/>
          <p:cNvSpPr>
            <a:spLocks noGrp="1"/>
          </p:cNvSpPr>
          <p:nvPr>
            <p:ph type="sldNum" sz="quarter" idx="10"/>
          </p:nvPr>
        </p:nvSpPr>
        <p:spPr/>
        <p:txBody>
          <a:bodyPr/>
          <a:lstStyle/>
          <a:p>
            <a:fld id="{06CFF0B0-89C7-40B6-9776-776B85B56DD1}" type="slidenum">
              <a:rPr lang="en-US" smtClean="0"/>
              <a:t>18</a:t>
            </a:fld>
            <a:endParaRPr lang="en-US"/>
          </a:p>
        </p:txBody>
      </p:sp>
    </p:spTree>
    <p:extLst>
      <p:ext uri="{BB962C8B-B14F-4D97-AF65-F5344CB8AC3E}">
        <p14:creationId xmlns:p14="http://schemas.microsoft.com/office/powerpoint/2010/main" val="704818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Model services around the business domain.</a:t>
            </a:r>
          </a:p>
          <a:p>
            <a:endParaRPr lang="en-US" dirty="0">
              <a:effectLst/>
            </a:endParaRPr>
          </a:p>
          <a:p>
            <a:r>
              <a:rPr lang="en-US" dirty="0">
                <a:effectLst/>
              </a:rPr>
              <a:t>Decentralize everything. Individual teams are responsible for designing and building services. Avoid sharing code or data schemas.</a:t>
            </a:r>
          </a:p>
          <a:p>
            <a:endParaRPr lang="en-US" dirty="0">
              <a:effectLst/>
            </a:endParaRPr>
          </a:p>
          <a:p>
            <a:r>
              <a:rPr lang="en-US" dirty="0">
                <a:effectLst/>
              </a:rPr>
              <a:t>Data storage should be private to the service that owns the data. Use the best storage for each service and data type.</a:t>
            </a:r>
          </a:p>
          <a:p>
            <a:endParaRPr lang="en-US" dirty="0">
              <a:effectLst/>
            </a:endParaRPr>
          </a:p>
          <a:p>
            <a:r>
              <a:rPr lang="en-US" dirty="0">
                <a:effectLst/>
              </a:rPr>
              <a:t>Services communicate through well-designed APIs. Avoid leaking implementation details. APIs should model the domain, not the internal implementation of the service.</a:t>
            </a:r>
          </a:p>
          <a:p>
            <a:endParaRPr lang="en-US" dirty="0">
              <a:effectLst/>
            </a:endParaRPr>
          </a:p>
          <a:p>
            <a:r>
              <a:rPr lang="en-US" dirty="0">
                <a:effectLst/>
              </a:rPr>
              <a:t>Avoid coupling between services. Causes of coupling include shared database schemas and rigid communication protocols.</a:t>
            </a:r>
          </a:p>
          <a:p>
            <a:endParaRPr lang="en-US" dirty="0">
              <a:effectLst/>
            </a:endParaRPr>
          </a:p>
          <a:p>
            <a:r>
              <a:rPr lang="en-US" dirty="0">
                <a:effectLst/>
              </a:rPr>
              <a:t>Offload cross-cutting concerns, such as authentication and SSL termination, to the gateway.</a:t>
            </a:r>
          </a:p>
          <a:p>
            <a:endParaRPr lang="en-US" dirty="0">
              <a:effectLst/>
            </a:endParaRPr>
          </a:p>
          <a:p>
            <a:r>
              <a:rPr lang="en-US" dirty="0">
                <a:effectLst/>
              </a:rPr>
              <a:t>Keep domain knowledge out of the gateway. The gateway should handle and route client requests without any knowledge of the business rules or domain logic. Otherwise, the gateway becomes a dependency and can cause coupling between services.</a:t>
            </a:r>
          </a:p>
          <a:p>
            <a:endParaRPr lang="en-US" dirty="0">
              <a:effectLst/>
            </a:endParaRPr>
          </a:p>
          <a:p>
            <a:r>
              <a:rPr lang="en-US" dirty="0">
                <a:effectLst/>
              </a:rPr>
              <a:t>Services should have loose coupling and high functional cohesion. Functions that are likely to change together should be packaged and deployed together. If they reside in separate services, those services end up being tightly coupled, because a change in one service will require updating the other service. Overly chatty communication between two services may be a symptom of tight coupling and low cohesion.</a:t>
            </a:r>
          </a:p>
          <a:p>
            <a:endParaRPr lang="en-US" dirty="0">
              <a:effectLst/>
            </a:endParaRPr>
          </a:p>
          <a:p>
            <a:r>
              <a:rPr lang="en-US" dirty="0">
                <a:effectLst/>
              </a:rPr>
              <a:t>Isolate failures. Use resiliency strategies to prevent failures within a service from cascading.</a:t>
            </a:r>
          </a:p>
          <a:p>
            <a:endParaRPr lang="en-US" dirty="0"/>
          </a:p>
        </p:txBody>
      </p:sp>
      <p:sp>
        <p:nvSpPr>
          <p:cNvPr id="4" name="Slide Number Placeholder 3"/>
          <p:cNvSpPr>
            <a:spLocks noGrp="1"/>
          </p:cNvSpPr>
          <p:nvPr>
            <p:ph type="sldNum" sz="quarter" idx="10"/>
          </p:nvPr>
        </p:nvSpPr>
        <p:spPr/>
        <p:txBody>
          <a:bodyPr/>
          <a:lstStyle/>
          <a:p>
            <a:fld id="{06CFF0B0-89C7-40B6-9776-776B85B56DD1}" type="slidenum">
              <a:rPr lang="en-US" smtClean="0"/>
              <a:t>19</a:t>
            </a:fld>
            <a:endParaRPr lang="en-US"/>
          </a:p>
        </p:txBody>
      </p:sp>
    </p:spTree>
    <p:extLst>
      <p:ext uri="{BB962C8B-B14F-4D97-AF65-F5344CB8AC3E}">
        <p14:creationId xmlns:p14="http://schemas.microsoft.com/office/powerpoint/2010/main" val="2878717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CFF0B0-89C7-40B6-9776-776B85B56DD1}" type="slidenum">
              <a:rPr lang="en-US" smtClean="0"/>
              <a:t>20</a:t>
            </a:fld>
            <a:endParaRPr lang="en-US"/>
          </a:p>
        </p:txBody>
      </p:sp>
    </p:spTree>
    <p:extLst>
      <p:ext uri="{BB962C8B-B14F-4D97-AF65-F5344CB8AC3E}">
        <p14:creationId xmlns:p14="http://schemas.microsoft.com/office/powerpoint/2010/main" val="2933563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CFF0B0-89C7-40B6-9776-776B85B56DD1}" type="slidenum">
              <a:rPr lang="en-US" smtClean="0"/>
              <a:t>21</a:t>
            </a:fld>
            <a:endParaRPr lang="en-US"/>
          </a:p>
        </p:txBody>
      </p:sp>
    </p:spTree>
    <p:extLst>
      <p:ext uri="{BB962C8B-B14F-4D97-AF65-F5344CB8AC3E}">
        <p14:creationId xmlns:p14="http://schemas.microsoft.com/office/powerpoint/2010/main" val="3081185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71754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520981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705437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938159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9D9D91-D751-4C6C-B67D-9AA6E4324E62}"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289866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9D9D91-D751-4C6C-B67D-9AA6E4324E62}"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992131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9D9D91-D751-4C6C-B67D-9AA6E4324E62}"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9551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1408964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891149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95166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68C7F98-F5D9-4013-8DBC-02773FDBBF6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5949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2019146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68C7F98-F5D9-4013-8DBC-02773FDBBF6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9688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9D9D91-D751-4C6C-B67D-9AA6E4324E62}"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2246392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343193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D9D91-D751-4C6C-B67D-9AA6E4324E62}"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68C7F98-F5D9-4013-8DBC-02773FDBBF6F}" type="slidenum">
              <a:rPr lang="en-US" smtClean="0"/>
              <a:t>‹#›</a:t>
            </a:fld>
            <a:endParaRPr lang="en-US"/>
          </a:p>
        </p:txBody>
      </p:sp>
    </p:spTree>
    <p:extLst>
      <p:ext uri="{BB962C8B-B14F-4D97-AF65-F5344CB8AC3E}">
        <p14:creationId xmlns:p14="http://schemas.microsoft.com/office/powerpoint/2010/main" val="192330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Section Title Accent Color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239" y="2084172"/>
            <a:ext cx="11653523" cy="1796217"/>
          </a:xfrm>
          <a:noFill/>
        </p:spPr>
        <p:txBody>
          <a:bodyPr anchorCtr="0"/>
          <a:lstStyle>
            <a:lvl1pPr>
              <a:defRPr sz="8627" spc="-98" baseline="0">
                <a:gradFill>
                  <a:gsLst>
                    <a:gs pos="100000">
                      <a:schemeClr val="tx1"/>
                    </a:gs>
                    <a:gs pos="0">
                      <a:schemeClr val="tx1"/>
                    </a:gs>
                  </a:gsLst>
                  <a:lin ang="5400000" scaled="0"/>
                </a:gradFill>
              </a:defRPr>
            </a:lvl1pPr>
          </a:lstStyle>
          <a:p>
            <a:r>
              <a:rPr lang="en-US" dirty="0"/>
              <a:t>Click to edit Master title style</a:t>
            </a:r>
          </a:p>
        </p:txBody>
      </p:sp>
    </p:spTree>
    <p:extLst>
      <p:ext uri="{BB962C8B-B14F-4D97-AF65-F5344CB8AC3E}">
        <p14:creationId xmlns:p14="http://schemas.microsoft.com/office/powerpoint/2010/main" val="4207764690"/>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C9D9D91-D751-4C6C-B67D-9AA6E4324E62}" type="datetimeFigureOut">
              <a:rPr lang="en-US" smtClean="0"/>
              <a:t>12/31/2025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68C7F98-F5D9-4013-8DBC-02773FDBBF6F}" type="slidenum">
              <a:rPr lang="en-US" smtClean="0"/>
              <a:t>‹#›</a:t>
            </a:fld>
            <a:endParaRPr lang="en-US"/>
          </a:p>
        </p:txBody>
      </p:sp>
    </p:spTree>
    <p:extLst>
      <p:ext uri="{BB962C8B-B14F-4D97-AF65-F5344CB8AC3E}">
        <p14:creationId xmlns:p14="http://schemas.microsoft.com/office/powerpoint/2010/main" val="311019675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2E51C8-AAB1-458D-8BF9-4364365F4880}"/>
              </a:ext>
            </a:extLst>
          </p:cNvPr>
          <p:cNvSpPr>
            <a:spLocks noGrp="1"/>
          </p:cNvSpPr>
          <p:nvPr>
            <p:ph type="title"/>
          </p:nvPr>
        </p:nvSpPr>
        <p:spPr>
          <a:xfrm>
            <a:off x="2293343" y="3084215"/>
            <a:ext cx="9125396" cy="1580049"/>
          </a:xfrm>
        </p:spPr>
        <p:txBody>
          <a:bodyPr vert="horz" lIns="91440" tIns="45720" rIns="91440" bIns="45720" rtlCol="0" anchor="ctr">
            <a:noAutofit/>
          </a:bodyPr>
          <a:lstStyle/>
          <a:p>
            <a:pPr>
              <a:lnSpc>
                <a:spcPct val="90000"/>
              </a:lnSpc>
            </a:pPr>
            <a:r>
              <a:rPr lang="en-US" sz="4400" b="1" dirty="0"/>
              <a:t>Microservices – Getting Started</a:t>
            </a:r>
          </a:p>
        </p:txBody>
      </p:sp>
      <p:pic>
        <p:nvPicPr>
          <p:cNvPr id="8" name="Content Placeholder 7">
            <a:extLst>
              <a:ext uri="{FF2B5EF4-FFF2-40B4-BE49-F238E27FC236}">
                <a16:creationId xmlns:a16="http://schemas.microsoft.com/office/drawing/2014/main" id="{37359757-B1D1-4B73-B699-2898033200C9}"/>
              </a:ext>
            </a:extLst>
          </p:cNvPr>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a:stretch/>
        </p:blipFill>
        <p:spPr>
          <a:xfrm>
            <a:off x="8072265" y="0"/>
            <a:ext cx="4003193" cy="3002394"/>
          </a:xfrm>
          <a:prstGeom prst="rect">
            <a:avLst/>
          </a:prstGeom>
        </p:spPr>
      </p:pic>
      <p:sp>
        <p:nvSpPr>
          <p:cNvPr id="6" name="Text Placeholder 5">
            <a:extLst>
              <a:ext uri="{FF2B5EF4-FFF2-40B4-BE49-F238E27FC236}">
                <a16:creationId xmlns:a16="http://schemas.microsoft.com/office/drawing/2014/main" id="{B2E67554-36FB-4E62-92C8-3F2E6D1CD7D2}"/>
              </a:ext>
            </a:extLst>
          </p:cNvPr>
          <p:cNvSpPr>
            <a:spLocks noGrp="1"/>
          </p:cNvSpPr>
          <p:nvPr>
            <p:ph type="body" sz="half" idx="2"/>
          </p:nvPr>
        </p:nvSpPr>
        <p:spPr>
          <a:xfrm>
            <a:off x="2293343" y="4337598"/>
            <a:ext cx="6795987" cy="816974"/>
          </a:xfrm>
        </p:spPr>
        <p:txBody>
          <a:bodyPr vert="horz" lIns="91440" tIns="45720" rIns="91440" bIns="45720" rtlCol="0" anchor="ctr">
            <a:normAutofit/>
          </a:bodyPr>
          <a:lstStyle/>
          <a:p>
            <a:pPr algn="l"/>
            <a:r>
              <a:rPr lang="en-US" sz="2800" dirty="0"/>
              <a:t>Nikhil Shah</a:t>
            </a:r>
          </a:p>
        </p:txBody>
      </p:sp>
      <p:pic>
        <p:nvPicPr>
          <p:cNvPr id="10" name="Picture 9">
            <a:extLst>
              <a:ext uri="{FF2B5EF4-FFF2-40B4-BE49-F238E27FC236}">
                <a16:creationId xmlns:a16="http://schemas.microsoft.com/office/drawing/2014/main" id="{C44F9E85-404C-4AF7-8C36-0556DD1D84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9786" y="281152"/>
            <a:ext cx="1138246" cy="242889"/>
          </a:xfrm>
          <a:prstGeom prst="rect">
            <a:avLst/>
          </a:prstGeom>
        </p:spPr>
      </p:pic>
    </p:spTree>
    <p:extLst>
      <p:ext uri="{BB962C8B-B14F-4D97-AF65-F5344CB8AC3E}">
        <p14:creationId xmlns:p14="http://schemas.microsoft.com/office/powerpoint/2010/main" val="3234672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F83320-50DF-4313-8CF5-CCA62ED23D4D}"/>
              </a:ext>
            </a:extLst>
          </p:cNvPr>
          <p:cNvPicPr>
            <a:picLocks noChangeAspect="1"/>
          </p:cNvPicPr>
          <p:nvPr/>
        </p:nvPicPr>
        <p:blipFill>
          <a:blip r:embed="rId3"/>
          <a:stretch>
            <a:fillRect/>
          </a:stretch>
        </p:blipFill>
        <p:spPr>
          <a:xfrm>
            <a:off x="-328378" y="-586234"/>
            <a:ext cx="12848756" cy="8030470"/>
          </a:xfrm>
          <a:prstGeom prst="rect">
            <a:avLst/>
          </a:prstGeom>
        </p:spPr>
      </p:pic>
    </p:spTree>
    <p:extLst>
      <p:ext uri="{BB962C8B-B14F-4D97-AF65-F5344CB8AC3E}">
        <p14:creationId xmlns:p14="http://schemas.microsoft.com/office/powerpoint/2010/main" val="3513134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5C6B58-0429-4BAB-A0D1-3999CC7FCF80}"/>
              </a:ext>
            </a:extLst>
          </p:cNvPr>
          <p:cNvPicPr>
            <a:picLocks noChangeAspect="1"/>
          </p:cNvPicPr>
          <p:nvPr/>
        </p:nvPicPr>
        <p:blipFill>
          <a:blip r:embed="rId3"/>
          <a:stretch>
            <a:fillRect/>
          </a:stretch>
        </p:blipFill>
        <p:spPr>
          <a:xfrm>
            <a:off x="-168023" y="-754316"/>
            <a:ext cx="12528045" cy="8366632"/>
          </a:xfrm>
          <a:prstGeom prst="rect">
            <a:avLst/>
          </a:prstGeom>
        </p:spPr>
      </p:pic>
    </p:spTree>
    <p:extLst>
      <p:ext uri="{BB962C8B-B14F-4D97-AF65-F5344CB8AC3E}">
        <p14:creationId xmlns:p14="http://schemas.microsoft.com/office/powerpoint/2010/main" val="394433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7180-C575-4E81-8E64-9F981FBB45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1557D6-4B54-4210-B134-FC99460A43F7}"/>
              </a:ext>
            </a:extLst>
          </p:cNvPr>
          <p:cNvSpPr>
            <a:spLocks noGrp="1"/>
          </p:cNvSpPr>
          <p:nvPr>
            <p:ph idx="1"/>
          </p:nvPr>
        </p:nvSpPr>
        <p:spPr/>
        <p:txBody>
          <a:bodyPr>
            <a:normAutofit/>
          </a:bodyPr>
          <a:lstStyle/>
          <a:p>
            <a:r>
              <a:rPr lang="en-US" sz="2400" dirty="0"/>
              <a:t>With increasing business demands, we now develop very large and complex projects that take more time to build and deploy. </a:t>
            </a:r>
          </a:p>
          <a:p>
            <a:r>
              <a:rPr lang="en-US" sz="2400" dirty="0"/>
              <a:t>Whenever QA reports any issue, we need to debug or fix it and then deploy the whole code. </a:t>
            </a:r>
          </a:p>
          <a:p>
            <a:r>
              <a:rPr lang="en-US" sz="2400" dirty="0"/>
              <a:t>To reduce these complexities, most organizations are moving towards Microservices development and Docker for easy deployment and smooth service running.</a:t>
            </a:r>
          </a:p>
        </p:txBody>
      </p:sp>
    </p:spTree>
    <p:extLst>
      <p:ext uri="{BB962C8B-B14F-4D97-AF65-F5344CB8AC3E}">
        <p14:creationId xmlns:p14="http://schemas.microsoft.com/office/powerpoint/2010/main" val="1096470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28BDD-597B-4F6B-9FAA-6337717B50DF}"/>
              </a:ext>
            </a:extLst>
          </p:cNvPr>
          <p:cNvSpPr>
            <a:spLocks noGrp="1"/>
          </p:cNvSpPr>
          <p:nvPr>
            <p:ph type="title"/>
          </p:nvPr>
        </p:nvSpPr>
        <p:spPr>
          <a:xfrm>
            <a:off x="649224" y="645106"/>
            <a:ext cx="3650279" cy="1259894"/>
          </a:xfrm>
        </p:spPr>
        <p:txBody>
          <a:bodyPr>
            <a:normAutofit/>
          </a:bodyPr>
          <a:lstStyle/>
          <a:p>
            <a:endParaRPr lang="en-US"/>
          </a:p>
        </p:txBody>
      </p:sp>
      <p:sp>
        <p:nvSpPr>
          <p:cNvPr id="73" name="Rectangle 72">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2E73A016-3C0A-455E-93AE-C6877703FAD6}"/>
              </a:ext>
            </a:extLst>
          </p:cNvPr>
          <p:cNvSpPr>
            <a:spLocks noGrp="1"/>
          </p:cNvSpPr>
          <p:nvPr>
            <p:ph idx="1"/>
          </p:nvPr>
        </p:nvSpPr>
        <p:spPr>
          <a:xfrm>
            <a:off x="649225" y="2133600"/>
            <a:ext cx="3650278" cy="3759253"/>
          </a:xfrm>
        </p:spPr>
        <p:txBody>
          <a:bodyPr>
            <a:normAutofit/>
          </a:bodyPr>
          <a:lstStyle/>
          <a:p>
            <a:endParaRPr lang="en-US"/>
          </a:p>
        </p:txBody>
      </p:sp>
      <p:pic>
        <p:nvPicPr>
          <p:cNvPr id="1026" name="Picture 2" descr="Image result for monolith vs microservices">
            <a:extLst>
              <a:ext uri="{FF2B5EF4-FFF2-40B4-BE49-F238E27FC236}">
                <a16:creationId xmlns:a16="http://schemas.microsoft.com/office/drawing/2014/main" id="{C756F635-8142-4863-BB7D-B440FF664C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65063" y="351642"/>
            <a:ext cx="9661874" cy="6154716"/>
          </a:xfrm>
          <a:prstGeom prst="rect">
            <a:avLst/>
          </a:prstGeom>
          <a:noFill/>
          <a:extLst>
            <a:ext uri="{909E8E84-426E-40DD-AFC4-6F175D3DCCD1}">
              <a14:hiddenFill xmlns:a14="http://schemas.microsoft.com/office/drawing/2010/main">
                <a:solidFill>
                  <a:srgbClr val="FFFFFF"/>
                </a:solidFill>
              </a14:hiddenFill>
            </a:ext>
          </a:extLst>
        </p:spPr>
      </p:pic>
      <p:sp>
        <p:nvSpPr>
          <p:cNvPr id="75"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2067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5008-0879-4666-83A2-1DB73BC38334}"/>
              </a:ext>
            </a:extLst>
          </p:cNvPr>
          <p:cNvSpPr>
            <a:spLocks noGrp="1"/>
          </p:cNvSpPr>
          <p:nvPr>
            <p:ph type="title"/>
          </p:nvPr>
        </p:nvSpPr>
        <p:spPr>
          <a:xfrm>
            <a:off x="2592925" y="624110"/>
            <a:ext cx="8911687" cy="1280890"/>
          </a:xfrm>
        </p:spPr>
        <p:txBody>
          <a:bodyPr/>
          <a:lstStyle/>
          <a:p>
            <a:endParaRPr lang="en-US"/>
          </a:p>
        </p:txBody>
      </p:sp>
      <p:pic>
        <p:nvPicPr>
          <p:cNvPr id="2050" name="Picture 2" descr="Image result for monolith vs microservices">
            <a:extLst>
              <a:ext uri="{FF2B5EF4-FFF2-40B4-BE49-F238E27FC236}">
                <a16:creationId xmlns:a16="http://schemas.microsoft.com/office/drawing/2014/main" id="{2C7ED695-155A-419C-9552-1EB30F7D6A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4082"/>
            <a:ext cx="12192000" cy="6966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418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CCBE1-1BEF-46A8-B379-0793F82ACEBA}"/>
              </a:ext>
            </a:extLst>
          </p:cNvPr>
          <p:cNvSpPr>
            <a:spLocks noGrp="1"/>
          </p:cNvSpPr>
          <p:nvPr>
            <p:ph type="title"/>
          </p:nvPr>
        </p:nvSpPr>
        <p:spPr/>
        <p:txBody>
          <a:bodyPr/>
          <a:lstStyle/>
          <a:p>
            <a:endParaRPr lang="en-US"/>
          </a:p>
        </p:txBody>
      </p:sp>
      <p:pic>
        <p:nvPicPr>
          <p:cNvPr id="1026" name="Picture 2" descr="https://blogs.bmc.com/wp-content/uploads/2018/10/microservices-vs-monolithic-1024x544.png">
            <a:extLst>
              <a:ext uri="{FF2B5EF4-FFF2-40B4-BE49-F238E27FC236}">
                <a16:creationId xmlns:a16="http://schemas.microsoft.com/office/drawing/2014/main" id="{520E7270-0E42-4EC7-8743-B46E6883DE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9520" y="624110"/>
            <a:ext cx="11542480" cy="6131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65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5C86-855B-4CB6-9508-3F68BC4626F9}"/>
              </a:ext>
            </a:extLst>
          </p:cNvPr>
          <p:cNvSpPr>
            <a:spLocks noGrp="1"/>
          </p:cNvSpPr>
          <p:nvPr>
            <p:ph type="title"/>
          </p:nvPr>
        </p:nvSpPr>
        <p:spPr>
          <a:xfrm>
            <a:off x="2048639" y="537024"/>
            <a:ext cx="8911687" cy="1280890"/>
          </a:xfrm>
        </p:spPr>
        <p:txBody>
          <a:bodyPr>
            <a:normAutofit fontScale="90000"/>
          </a:bodyPr>
          <a:lstStyle/>
          <a:p>
            <a:r>
              <a:rPr lang="en-US" dirty="0"/>
              <a:t>WHY SHOULD WE USE MICROSERVICES INSTEAD OF A MONOLITHIC APPROACH?</a:t>
            </a:r>
          </a:p>
        </p:txBody>
      </p:sp>
      <p:sp>
        <p:nvSpPr>
          <p:cNvPr id="3" name="Content Placeholder 2">
            <a:extLst>
              <a:ext uri="{FF2B5EF4-FFF2-40B4-BE49-F238E27FC236}">
                <a16:creationId xmlns:a16="http://schemas.microsoft.com/office/drawing/2014/main" id="{57FEDA35-7427-43B1-B01D-F090B83C15B9}"/>
              </a:ext>
            </a:extLst>
          </p:cNvPr>
          <p:cNvSpPr>
            <a:spLocks noGrp="1"/>
          </p:cNvSpPr>
          <p:nvPr>
            <p:ph idx="1"/>
          </p:nvPr>
        </p:nvSpPr>
        <p:spPr>
          <a:xfrm>
            <a:off x="2048639" y="1817914"/>
            <a:ext cx="9455973" cy="4093308"/>
          </a:xfrm>
        </p:spPr>
        <p:txBody>
          <a:bodyPr/>
          <a:lstStyle/>
          <a:p>
            <a:r>
              <a:rPr lang="en-US" sz="2000" dirty="0"/>
              <a:t>Microservices are smaller in size</a:t>
            </a:r>
          </a:p>
          <a:p>
            <a:r>
              <a:rPr lang="en-US" sz="2000" dirty="0"/>
              <a:t>Microservices are easier to develop, deploy, and debug, because a fix only needs to be deployed onto the microservice with the bug, instead of across the board</a:t>
            </a:r>
          </a:p>
          <a:p>
            <a:r>
              <a:rPr lang="en-US" sz="2000" dirty="0"/>
              <a:t>Microservices can be scaled quickly and can be reused among different projects</a:t>
            </a:r>
          </a:p>
          <a:p>
            <a:r>
              <a:rPr lang="en-US" sz="2000" dirty="0"/>
              <a:t>Microservices work well with containers like Docker</a:t>
            </a:r>
          </a:p>
          <a:p>
            <a:r>
              <a:rPr lang="en-US" sz="2000" dirty="0"/>
              <a:t>Microservices are independent of each other, meaning that if one of the microservices goes down, there is little risk of the full application shutting down</a:t>
            </a:r>
          </a:p>
          <a:p>
            <a:endParaRPr lang="en-US" dirty="0"/>
          </a:p>
        </p:txBody>
      </p:sp>
    </p:spTree>
    <p:extLst>
      <p:ext uri="{BB962C8B-B14F-4D97-AF65-F5344CB8AC3E}">
        <p14:creationId xmlns:p14="http://schemas.microsoft.com/office/powerpoint/2010/main" val="2676068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3157-7D22-4341-BDBF-EC2E7A2A119A}"/>
              </a:ext>
            </a:extLst>
          </p:cNvPr>
          <p:cNvSpPr>
            <a:spLocks noGrp="1"/>
          </p:cNvSpPr>
          <p:nvPr>
            <p:ph type="title"/>
          </p:nvPr>
        </p:nvSpPr>
        <p:spPr>
          <a:xfrm>
            <a:off x="2592925" y="624110"/>
            <a:ext cx="8911687" cy="1280890"/>
          </a:xfrm>
        </p:spPr>
        <p:txBody>
          <a:bodyPr/>
          <a:lstStyle/>
          <a:p>
            <a:r>
              <a:rPr lang="en-US" cap="all" dirty="0"/>
              <a:t>WHY SHOULD WE USE DOCKER?</a:t>
            </a:r>
            <a:br>
              <a:rPr lang="en-US" cap="all" dirty="0"/>
            </a:br>
            <a:endParaRPr lang="en-US" dirty="0"/>
          </a:p>
        </p:txBody>
      </p:sp>
      <p:sp>
        <p:nvSpPr>
          <p:cNvPr id="3" name="Content Placeholder 2">
            <a:extLst>
              <a:ext uri="{FF2B5EF4-FFF2-40B4-BE49-F238E27FC236}">
                <a16:creationId xmlns:a16="http://schemas.microsoft.com/office/drawing/2014/main" id="{742909B7-30FD-4EC6-A485-54FB1520DD6F}"/>
              </a:ext>
            </a:extLst>
          </p:cNvPr>
          <p:cNvSpPr>
            <a:spLocks noGrp="1"/>
          </p:cNvSpPr>
          <p:nvPr>
            <p:ph idx="1"/>
          </p:nvPr>
        </p:nvSpPr>
        <p:spPr/>
        <p:txBody>
          <a:bodyPr/>
          <a:lstStyle/>
          <a:p>
            <a:r>
              <a:rPr lang="en-US" dirty="0"/>
              <a:t>Docker is a tool that makes it easier to create, deploy, and run applications by using a containerization approach. </a:t>
            </a:r>
          </a:p>
          <a:p>
            <a:r>
              <a:rPr lang="en-US" dirty="0"/>
              <a:t>These containers are lightweight and take less time to start than traditional servers.</a:t>
            </a:r>
          </a:p>
          <a:p>
            <a:r>
              <a:rPr lang="en-US" dirty="0"/>
              <a:t> These containers also increase performance and lower cost, while offering proper resource management. </a:t>
            </a:r>
          </a:p>
          <a:p>
            <a:r>
              <a:rPr lang="en-US" dirty="0"/>
              <a:t>Another benefit to using Docker is that you no longer need to pre-allocate RAM to each container.</a:t>
            </a:r>
          </a:p>
        </p:txBody>
      </p:sp>
    </p:spTree>
    <p:extLst>
      <p:ext uri="{BB962C8B-B14F-4D97-AF65-F5344CB8AC3E}">
        <p14:creationId xmlns:p14="http://schemas.microsoft.com/office/powerpoint/2010/main" val="30621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44ADA-B8B4-4958-BE4C-B26C7C9C6C33}"/>
              </a:ext>
            </a:extLst>
          </p:cNvPr>
          <p:cNvSpPr>
            <a:spLocks noGrp="1"/>
          </p:cNvSpPr>
          <p:nvPr>
            <p:ph type="title"/>
          </p:nvPr>
        </p:nvSpPr>
        <p:spPr>
          <a:xfrm>
            <a:off x="834013" y="1115568"/>
            <a:ext cx="3487616" cy="4626864"/>
          </a:xfrm>
        </p:spPr>
        <p:txBody>
          <a:bodyPr>
            <a:normAutofit/>
          </a:bodyPr>
          <a:lstStyle/>
          <a:p>
            <a:pPr algn="l"/>
            <a:r>
              <a:rPr lang="en-US" sz="3600"/>
              <a:t>Definition</a:t>
            </a:r>
          </a:p>
        </p:txBody>
      </p:sp>
      <p:sp>
        <p:nvSpPr>
          <p:cNvPr id="3" name="Content Placeholder 2">
            <a:extLst>
              <a:ext uri="{FF2B5EF4-FFF2-40B4-BE49-F238E27FC236}">
                <a16:creationId xmlns:a16="http://schemas.microsoft.com/office/drawing/2014/main" id="{5BA13185-733D-4C21-8BF6-CA035C87606E}"/>
              </a:ext>
            </a:extLst>
          </p:cNvPr>
          <p:cNvSpPr>
            <a:spLocks noGrp="1"/>
          </p:cNvSpPr>
          <p:nvPr>
            <p:ph idx="1"/>
          </p:nvPr>
        </p:nvSpPr>
        <p:spPr>
          <a:xfrm>
            <a:off x="5105398" y="1115568"/>
            <a:ext cx="6245352" cy="4626864"/>
          </a:xfrm>
        </p:spPr>
        <p:txBody>
          <a:bodyPr anchor="ctr">
            <a:normAutofit/>
          </a:bodyPr>
          <a:lstStyle/>
          <a:p>
            <a:pPr marL="36900" indent="0" algn="ctr">
              <a:buNone/>
            </a:pPr>
            <a:r>
              <a:rPr lang="en-US" sz="3200" dirty="0">
                <a:effectLst/>
              </a:rPr>
              <a:t>A </a:t>
            </a:r>
            <a:r>
              <a:rPr lang="en-US" sz="3200" dirty="0" err="1">
                <a:effectLst/>
              </a:rPr>
              <a:t>microservices</a:t>
            </a:r>
            <a:r>
              <a:rPr lang="en-US" sz="3200" dirty="0">
                <a:effectLst/>
              </a:rPr>
              <a:t> architecture consists of a collection of small, autonomous services. Each service is self-contained and should implement a single business capability.</a:t>
            </a:r>
            <a:endParaRPr lang="en-US" sz="3200" dirty="0"/>
          </a:p>
        </p:txBody>
      </p:sp>
    </p:spTree>
    <p:extLst>
      <p:ext uri="{BB962C8B-B14F-4D97-AF65-F5344CB8AC3E}">
        <p14:creationId xmlns:p14="http://schemas.microsoft.com/office/powerpoint/2010/main" val="264564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96329-513A-41CD-85DC-1B78ED2F38C2}"/>
              </a:ext>
            </a:extLst>
          </p:cNvPr>
          <p:cNvSpPr>
            <a:spLocks noGrp="1"/>
          </p:cNvSpPr>
          <p:nvPr>
            <p:ph type="title"/>
          </p:nvPr>
        </p:nvSpPr>
        <p:spPr/>
        <p:txBody>
          <a:bodyPr/>
          <a:lstStyle/>
          <a:p>
            <a:r>
              <a:rPr lang="en-US" dirty="0">
                <a:effectLst/>
              </a:rPr>
              <a:t>Characteristics of a Microservice</a:t>
            </a:r>
            <a:endParaRPr lang="en-US" dirty="0"/>
          </a:p>
        </p:txBody>
      </p:sp>
      <p:sp>
        <p:nvSpPr>
          <p:cNvPr id="3" name="Content Placeholder 2">
            <a:extLst>
              <a:ext uri="{FF2B5EF4-FFF2-40B4-BE49-F238E27FC236}">
                <a16:creationId xmlns:a16="http://schemas.microsoft.com/office/drawing/2014/main" id="{6BBB7382-370F-4C40-90BB-232C929E7FC5}"/>
              </a:ext>
            </a:extLst>
          </p:cNvPr>
          <p:cNvSpPr>
            <a:spLocks noGrp="1"/>
          </p:cNvSpPr>
          <p:nvPr>
            <p:ph idx="1"/>
          </p:nvPr>
        </p:nvSpPr>
        <p:spPr/>
        <p:txBody>
          <a:bodyPr>
            <a:noAutofit/>
          </a:bodyPr>
          <a:lstStyle/>
          <a:p>
            <a:r>
              <a:rPr lang="en-US" sz="2700" dirty="0">
                <a:effectLst/>
              </a:rPr>
              <a:t>Services are small, independent, and loosely coupled.</a:t>
            </a:r>
          </a:p>
          <a:p>
            <a:r>
              <a:rPr lang="en-US" sz="2700" dirty="0">
                <a:effectLst/>
              </a:rPr>
              <a:t>Each service is a separate codebase.</a:t>
            </a:r>
          </a:p>
          <a:p>
            <a:r>
              <a:rPr lang="en-US" sz="2700" dirty="0">
                <a:effectLst/>
              </a:rPr>
              <a:t>Services can be deployed independently.</a:t>
            </a:r>
          </a:p>
          <a:p>
            <a:r>
              <a:rPr lang="en-US" sz="2700" dirty="0">
                <a:effectLst/>
              </a:rPr>
              <a:t>Services are responsible for persisting their own data or external state. </a:t>
            </a:r>
          </a:p>
          <a:p>
            <a:r>
              <a:rPr lang="en-US" sz="2700" dirty="0">
                <a:effectLst/>
              </a:rPr>
              <a:t>Services communicate with each other by using well-defined APIs. </a:t>
            </a:r>
          </a:p>
          <a:p>
            <a:r>
              <a:rPr lang="en-US" sz="2700" dirty="0">
                <a:effectLst/>
              </a:rPr>
              <a:t>Services don't need to share the same technology stack, libraries, or frameworks.</a:t>
            </a:r>
          </a:p>
        </p:txBody>
      </p:sp>
    </p:spTree>
    <p:extLst>
      <p:ext uri="{BB962C8B-B14F-4D97-AF65-F5344CB8AC3E}">
        <p14:creationId xmlns:p14="http://schemas.microsoft.com/office/powerpoint/2010/main" val="100866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040C0-6696-4738-9E7A-F9A441D952BD}"/>
              </a:ext>
            </a:extLst>
          </p:cNvPr>
          <p:cNvSpPr>
            <a:spLocks noGrp="1"/>
          </p:cNvSpPr>
          <p:nvPr>
            <p:ph type="title"/>
          </p:nvPr>
        </p:nvSpPr>
        <p:spPr/>
        <p:txBody>
          <a:bodyPr/>
          <a:lstStyle/>
          <a:p>
            <a:r>
              <a:rPr lang="en-US" dirty="0" err="1"/>
              <a:t>Microservices</a:t>
            </a:r>
            <a:r>
              <a:rPr lang="en-US" dirty="0"/>
              <a:t> Overview</a:t>
            </a:r>
          </a:p>
        </p:txBody>
      </p:sp>
      <p:pic>
        <p:nvPicPr>
          <p:cNvPr id="6" name="Content Placeholder 5">
            <a:extLst>
              <a:ext uri="{FF2B5EF4-FFF2-40B4-BE49-F238E27FC236}">
                <a16:creationId xmlns:a16="http://schemas.microsoft.com/office/drawing/2014/main" id="{DCE15160-C98E-4CD2-A027-B66B1410E43E}"/>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auto">
          <a:xfrm>
            <a:off x="1764632" y="1229212"/>
            <a:ext cx="10416021" cy="5508472"/>
          </a:xfrm>
          <a:prstGeom prst="rect">
            <a:avLst/>
          </a:prstGeom>
          <a:solidFill>
            <a:schemeClr val="tx1"/>
          </a:solidFill>
        </p:spPr>
      </p:pic>
    </p:spTree>
    <p:extLst>
      <p:ext uri="{BB962C8B-B14F-4D97-AF65-F5344CB8AC3E}">
        <p14:creationId xmlns:p14="http://schemas.microsoft.com/office/powerpoint/2010/main" val="3323761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BE735-F1D4-44B0-9A22-3D36226B6214}"/>
              </a:ext>
            </a:extLst>
          </p:cNvPr>
          <p:cNvSpPr>
            <a:spLocks noGrp="1"/>
          </p:cNvSpPr>
          <p:nvPr>
            <p:ph type="title"/>
          </p:nvPr>
        </p:nvSpPr>
        <p:spPr/>
        <p:txBody>
          <a:bodyPr>
            <a:normAutofit/>
          </a:bodyPr>
          <a:lstStyle/>
          <a:p>
            <a:r>
              <a:rPr lang="en-US" dirty="0">
                <a:effectLst/>
              </a:rPr>
              <a:t>Other Components in a Typical Microservices Architecture</a:t>
            </a:r>
            <a:endParaRPr lang="en-US" dirty="0"/>
          </a:p>
        </p:txBody>
      </p:sp>
      <p:sp>
        <p:nvSpPr>
          <p:cNvPr id="3" name="Content Placeholder 2">
            <a:extLst>
              <a:ext uri="{FF2B5EF4-FFF2-40B4-BE49-F238E27FC236}">
                <a16:creationId xmlns:a16="http://schemas.microsoft.com/office/drawing/2014/main" id="{9CE448AE-A6BF-4E9A-873B-A23C72FB9106}"/>
              </a:ext>
            </a:extLst>
          </p:cNvPr>
          <p:cNvSpPr>
            <a:spLocks noGrp="1"/>
          </p:cNvSpPr>
          <p:nvPr>
            <p:ph idx="1"/>
          </p:nvPr>
        </p:nvSpPr>
        <p:spPr/>
        <p:txBody>
          <a:bodyPr>
            <a:normAutofit/>
          </a:bodyPr>
          <a:lstStyle/>
          <a:p>
            <a:r>
              <a:rPr lang="en-US" sz="3200" b="1" dirty="0">
                <a:effectLst/>
              </a:rPr>
              <a:t>Management</a:t>
            </a:r>
            <a:endParaRPr lang="en-US" sz="3200" dirty="0">
              <a:effectLst/>
            </a:endParaRPr>
          </a:p>
          <a:p>
            <a:r>
              <a:rPr lang="en-US" sz="3200" b="1" dirty="0">
                <a:effectLst/>
              </a:rPr>
              <a:t>Service Discovery</a:t>
            </a:r>
          </a:p>
          <a:p>
            <a:r>
              <a:rPr lang="en-US" sz="3200" b="1" dirty="0">
                <a:effectLst/>
              </a:rPr>
              <a:t>API Gateway</a:t>
            </a:r>
            <a:endParaRPr lang="en-US" sz="3200" dirty="0">
              <a:effectLst/>
            </a:endParaRPr>
          </a:p>
        </p:txBody>
      </p:sp>
    </p:spTree>
    <p:extLst>
      <p:ext uri="{BB962C8B-B14F-4D97-AF65-F5344CB8AC3E}">
        <p14:creationId xmlns:p14="http://schemas.microsoft.com/office/powerpoint/2010/main" val="218633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CC9B109E-8830-482B-AC35-B24F0F54BA23}"/>
              </a:ext>
            </a:extLst>
          </p:cNvPr>
          <p:cNvSpPr/>
          <p:nvPr/>
        </p:nvSpPr>
        <p:spPr bwMode="auto">
          <a:xfrm flipH="1">
            <a:off x="9369778" y="5723467"/>
            <a:ext cx="2822222" cy="1157110"/>
          </a:xfrm>
          <a:prstGeom prst="rtTriangl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1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C118C554-925A-4676-9481-7505FE41C531}"/>
              </a:ext>
            </a:extLst>
          </p:cNvPr>
          <p:cNvSpPr>
            <a:spLocks noGrp="1"/>
          </p:cNvSpPr>
          <p:nvPr>
            <p:ph type="title"/>
          </p:nvPr>
        </p:nvSpPr>
        <p:spPr/>
        <p:txBody>
          <a:bodyPr/>
          <a:lstStyle/>
          <a:p>
            <a:r>
              <a:rPr lang="en-GB" dirty="0"/>
              <a:t>AKS: Managed Kubernetes</a:t>
            </a:r>
          </a:p>
        </p:txBody>
      </p:sp>
      <p:sp>
        <p:nvSpPr>
          <p:cNvPr id="3" name="Text Placeholder 2">
            <a:extLst>
              <a:ext uri="{FF2B5EF4-FFF2-40B4-BE49-F238E27FC236}">
                <a16:creationId xmlns:a16="http://schemas.microsoft.com/office/drawing/2014/main" id="{E255D52E-35D0-496B-88B4-6B4481F325AD}"/>
              </a:ext>
            </a:extLst>
          </p:cNvPr>
          <p:cNvSpPr>
            <a:spLocks noGrp="1"/>
          </p:cNvSpPr>
          <p:nvPr>
            <p:ph idx="1"/>
          </p:nvPr>
        </p:nvSpPr>
        <p:spPr>
          <a:xfrm>
            <a:off x="269303" y="1187644"/>
            <a:ext cx="11655078" cy="3177793"/>
          </a:xfrm>
        </p:spPr>
        <p:txBody>
          <a:bodyPr/>
          <a:lstStyle/>
          <a:p>
            <a:pPr marL="457200" indent="-457200" algn="l">
              <a:buFont typeface="Arial" panose="020B0604020202020204" pitchFamily="34" charset="0"/>
              <a:buChar char="•"/>
            </a:pPr>
            <a:r>
              <a:rPr lang="en-GB" sz="2800" dirty="0"/>
              <a:t>Azure-hosted control plane</a:t>
            </a:r>
          </a:p>
          <a:p>
            <a:pPr marL="914400" lvl="1" indent="-457200">
              <a:buFont typeface="Arial" panose="020B0604020202020204" pitchFamily="34" charset="0"/>
              <a:buChar char="•"/>
            </a:pPr>
            <a:r>
              <a:rPr lang="en-GB" sz="2800" dirty="0"/>
              <a:t>No master nodes to manage or pay for</a:t>
            </a:r>
          </a:p>
          <a:p>
            <a:pPr marL="457200" indent="-457200" algn="l">
              <a:buFont typeface="Arial" panose="020B0604020202020204" pitchFamily="34" charset="0"/>
              <a:buChar char="•"/>
            </a:pPr>
            <a:r>
              <a:rPr lang="en-GB" sz="2800" dirty="0"/>
              <a:t>Automated upgrades and patching</a:t>
            </a:r>
          </a:p>
          <a:p>
            <a:pPr marL="914400" lvl="1" indent="-457200">
              <a:buFont typeface="Arial" panose="020B0604020202020204" pitchFamily="34" charset="0"/>
              <a:buChar char="•"/>
            </a:pPr>
            <a:r>
              <a:rPr lang="en-GB" sz="2800" dirty="0"/>
              <a:t>Easily upgrade control plane and worker nodes to new versions of Kubernetes</a:t>
            </a:r>
          </a:p>
          <a:p>
            <a:pPr marL="457200" indent="-457200" algn="l">
              <a:buFont typeface="Arial" panose="020B0604020202020204" pitchFamily="34" charset="0"/>
              <a:buChar char="•"/>
            </a:pPr>
            <a:r>
              <a:rPr lang="en-GB" sz="2800" dirty="0"/>
              <a:t>Scale agent pool to increase or decrease capacity</a:t>
            </a:r>
          </a:p>
          <a:p>
            <a:pPr algn="l"/>
            <a:endParaRPr lang="en-GB" sz="2800" dirty="0"/>
          </a:p>
        </p:txBody>
      </p:sp>
      <p:sp>
        <p:nvSpPr>
          <p:cNvPr id="5" name="Rectangle 4">
            <a:extLst>
              <a:ext uri="{FF2B5EF4-FFF2-40B4-BE49-F238E27FC236}">
                <a16:creationId xmlns:a16="http://schemas.microsoft.com/office/drawing/2014/main" id="{A9F08B0C-7446-45BF-8D1D-2B6E27B8E7A9}"/>
              </a:ext>
            </a:extLst>
          </p:cNvPr>
          <p:cNvSpPr/>
          <p:nvPr/>
        </p:nvSpPr>
        <p:spPr>
          <a:xfrm>
            <a:off x="9990666" y="6267069"/>
            <a:ext cx="2201334" cy="590931"/>
          </a:xfrm>
          <a:prstGeom prst="rect">
            <a:avLst/>
          </a:prstGeom>
        </p:spPr>
        <p:txBody>
          <a:bodyPr wrap="square">
            <a:spAutoFit/>
          </a:bodyPr>
          <a:lstStyle/>
          <a:p>
            <a:pPr algn="r" defTabSz="932472" fontAlgn="base">
              <a:lnSpc>
                <a:spcPct val="90000"/>
              </a:lnSpc>
              <a:spcBef>
                <a:spcPct val="0"/>
              </a:spcBef>
              <a:spcAft>
                <a:spcPct val="0"/>
              </a:spcAft>
            </a:pPr>
            <a:r>
              <a:rPr lang="en-GB" dirty="0">
                <a:gradFill>
                  <a:gsLst>
                    <a:gs pos="0">
                      <a:srgbClr val="FFFFFF"/>
                    </a:gs>
                    <a:gs pos="100000">
                      <a:srgbClr val="FFFFFF"/>
                    </a:gs>
                  </a:gsLst>
                  <a:lin ang="5400000" scaled="0"/>
                </a:gradFill>
                <a:ea typeface="Segoe UI" pitchFamily="34" charset="0"/>
                <a:cs typeface="Segoe UI" pitchFamily="34" charset="0"/>
              </a:rPr>
              <a:t>Linux: Preview</a:t>
            </a:r>
            <a:br>
              <a:rPr lang="en-GB" dirty="0">
                <a:gradFill>
                  <a:gsLst>
                    <a:gs pos="0">
                      <a:srgbClr val="FFFFFF"/>
                    </a:gs>
                    <a:gs pos="100000">
                      <a:srgbClr val="FFFFFF"/>
                    </a:gs>
                  </a:gsLst>
                  <a:lin ang="5400000" scaled="0"/>
                </a:gradFill>
                <a:ea typeface="Segoe UI" pitchFamily="34" charset="0"/>
                <a:cs typeface="Segoe UI" pitchFamily="34" charset="0"/>
              </a:rPr>
            </a:br>
            <a:r>
              <a:rPr lang="en-GB" dirty="0">
                <a:gradFill>
                  <a:gsLst>
                    <a:gs pos="0">
                      <a:srgbClr val="FFFFFF"/>
                    </a:gs>
                    <a:gs pos="100000">
                      <a:srgbClr val="FFFFFF"/>
                    </a:gs>
                  </a:gsLst>
                  <a:lin ang="5400000" scaled="0"/>
                </a:gradFill>
                <a:ea typeface="Segoe UI" pitchFamily="34" charset="0"/>
                <a:cs typeface="Segoe UI" pitchFamily="34" charset="0"/>
              </a:rPr>
              <a:t>Windows: Not yet</a:t>
            </a:r>
          </a:p>
        </p:txBody>
      </p:sp>
      <p:pic>
        <p:nvPicPr>
          <p:cNvPr id="8" name="Picture 7">
            <a:extLst>
              <a:ext uri="{FF2B5EF4-FFF2-40B4-BE49-F238E27FC236}">
                <a16:creationId xmlns:a16="http://schemas.microsoft.com/office/drawing/2014/main" id="{D387DF53-E144-4AA4-8FF5-3928F205AED1}"/>
              </a:ext>
            </a:extLst>
          </p:cNvPr>
          <p:cNvPicPr>
            <a:picLocks noChangeAspect="1"/>
          </p:cNvPicPr>
          <p:nvPr/>
        </p:nvPicPr>
        <p:blipFill>
          <a:blip r:embed="rId3"/>
          <a:stretch>
            <a:fillRect/>
          </a:stretch>
        </p:blipFill>
        <p:spPr>
          <a:xfrm>
            <a:off x="523878" y="4365701"/>
            <a:ext cx="4573384" cy="2258871"/>
          </a:xfrm>
          <a:prstGeom prst="rect">
            <a:avLst/>
          </a:prstGeom>
          <a:ln>
            <a:no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834ED0FD-5608-4D71-BF51-03C29106A568}"/>
              </a:ext>
            </a:extLst>
          </p:cNvPr>
          <p:cNvPicPr>
            <a:picLocks noChangeAspect="1"/>
          </p:cNvPicPr>
          <p:nvPr/>
        </p:nvPicPr>
        <p:blipFill rotWithShape="1">
          <a:blip r:embed="rId4"/>
          <a:srcRect r="4689" b="13875"/>
          <a:stretch/>
        </p:blipFill>
        <p:spPr>
          <a:xfrm>
            <a:off x="5354180" y="4365436"/>
            <a:ext cx="4493749" cy="2262849"/>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74213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0F880E-746B-4587-9803-59F6A8A32C95}"/>
              </a:ext>
            </a:extLst>
          </p:cNvPr>
          <p:cNvSpPr>
            <a:spLocks noGrp="1"/>
          </p:cNvSpPr>
          <p:nvPr>
            <p:ph type="title"/>
          </p:nvPr>
        </p:nvSpPr>
        <p:spPr/>
        <p:txBody>
          <a:bodyPr/>
          <a:lstStyle/>
          <a:p>
            <a:r>
              <a:rPr lang="en-GB" dirty="0"/>
              <a:t>Service Fabric</a:t>
            </a:r>
          </a:p>
        </p:txBody>
      </p:sp>
      <p:sp>
        <p:nvSpPr>
          <p:cNvPr id="2" name="TextBox 1">
            <a:extLst>
              <a:ext uri="{FF2B5EF4-FFF2-40B4-BE49-F238E27FC236}">
                <a16:creationId xmlns:a16="http://schemas.microsoft.com/office/drawing/2014/main" id="{0DA81B13-E655-4102-825E-A1709A35CFEC}"/>
              </a:ext>
            </a:extLst>
          </p:cNvPr>
          <p:cNvSpPr txBox="1"/>
          <p:nvPr/>
        </p:nvSpPr>
        <p:spPr>
          <a:xfrm>
            <a:off x="5136777" y="6230136"/>
            <a:ext cx="7211141" cy="627864"/>
          </a:xfrm>
          <a:prstGeom prst="rect">
            <a:avLst/>
          </a:prstGeom>
          <a:noFill/>
        </p:spPr>
        <p:txBody>
          <a:bodyPr wrap="none" lIns="182880" tIns="146304" rIns="182880" bIns="146304" rtlCol="0">
            <a:spAutoFit/>
          </a:bodyPr>
          <a:lstStyle/>
          <a:p>
            <a:pPr>
              <a:lnSpc>
                <a:spcPct val="90000"/>
              </a:lnSpc>
              <a:spcAft>
                <a:spcPts val="600"/>
              </a:spcAft>
            </a:pPr>
            <a:r>
              <a:rPr lang="en-GB" sz="2400" dirty="0">
                <a:gradFill>
                  <a:gsLst>
                    <a:gs pos="2917">
                      <a:schemeClr val="tx1"/>
                    </a:gs>
                    <a:gs pos="30000">
                      <a:schemeClr val="tx1"/>
                    </a:gs>
                  </a:gsLst>
                  <a:lin ang="5400000" scaled="0"/>
                </a:gradFill>
              </a:rPr>
              <a:t>Orchestration, microservices, programming models </a:t>
            </a:r>
          </a:p>
        </p:txBody>
      </p:sp>
    </p:spTree>
    <p:extLst>
      <p:ext uri="{BB962C8B-B14F-4D97-AF65-F5344CB8AC3E}">
        <p14:creationId xmlns:p14="http://schemas.microsoft.com/office/powerpoint/2010/main" val="77755050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9C368-1F74-482F-9F35-478FF728667E}"/>
              </a:ext>
            </a:extLst>
          </p:cNvPr>
          <p:cNvSpPr>
            <a:spLocks noGrp="1"/>
          </p:cNvSpPr>
          <p:nvPr>
            <p:ph type="title"/>
          </p:nvPr>
        </p:nvSpPr>
        <p:spPr/>
        <p:txBody>
          <a:bodyPr>
            <a:normAutofit/>
          </a:bodyPr>
          <a:lstStyle/>
          <a:p>
            <a:r>
              <a:rPr lang="en-US" dirty="0">
                <a:effectLst/>
              </a:rPr>
              <a:t>When to use this architecture</a:t>
            </a:r>
            <a:br>
              <a:rPr lang="en-US" dirty="0">
                <a:effectLst/>
              </a:rPr>
            </a:br>
            <a:endParaRPr lang="en-US" dirty="0"/>
          </a:p>
        </p:txBody>
      </p:sp>
      <p:sp>
        <p:nvSpPr>
          <p:cNvPr id="3" name="Content Placeholder 2">
            <a:extLst>
              <a:ext uri="{FF2B5EF4-FFF2-40B4-BE49-F238E27FC236}">
                <a16:creationId xmlns:a16="http://schemas.microsoft.com/office/drawing/2014/main" id="{1D19757D-0C8E-4DEB-867A-C297F7746FE8}"/>
              </a:ext>
            </a:extLst>
          </p:cNvPr>
          <p:cNvSpPr>
            <a:spLocks noGrp="1"/>
          </p:cNvSpPr>
          <p:nvPr>
            <p:ph idx="1"/>
          </p:nvPr>
        </p:nvSpPr>
        <p:spPr/>
        <p:txBody>
          <a:bodyPr>
            <a:normAutofit fontScale="92500" lnSpcReduction="10000"/>
          </a:bodyPr>
          <a:lstStyle/>
          <a:p>
            <a:r>
              <a:rPr lang="en-US" sz="3200" dirty="0">
                <a:effectLst/>
              </a:rPr>
              <a:t>Large applications that require a high release velocity.</a:t>
            </a:r>
          </a:p>
          <a:p>
            <a:r>
              <a:rPr lang="en-US" sz="3200" dirty="0">
                <a:effectLst/>
              </a:rPr>
              <a:t>Complex applications that need to be highly scalable.</a:t>
            </a:r>
          </a:p>
          <a:p>
            <a:r>
              <a:rPr lang="en-US" sz="3200" dirty="0">
                <a:effectLst/>
              </a:rPr>
              <a:t>Applications with rich domains or many subdomains.</a:t>
            </a:r>
          </a:p>
          <a:p>
            <a:r>
              <a:rPr lang="en-US" sz="3200" dirty="0">
                <a:effectLst/>
              </a:rPr>
              <a:t>An organization that consists of small development teams.</a:t>
            </a:r>
          </a:p>
        </p:txBody>
      </p:sp>
    </p:spTree>
    <p:extLst>
      <p:ext uri="{BB962C8B-B14F-4D97-AF65-F5344CB8AC3E}">
        <p14:creationId xmlns:p14="http://schemas.microsoft.com/office/powerpoint/2010/main" val="153581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70EB-50DA-48C0-9EB6-981C9880DADF}"/>
              </a:ext>
            </a:extLst>
          </p:cNvPr>
          <p:cNvSpPr>
            <a:spLocks noGrp="1"/>
          </p:cNvSpPr>
          <p:nvPr>
            <p:ph type="title"/>
          </p:nvPr>
        </p:nvSpPr>
        <p:spPr/>
        <p:txBody>
          <a:bodyPr>
            <a:normAutofit/>
          </a:bodyPr>
          <a:lstStyle/>
          <a:p>
            <a:r>
              <a:rPr lang="en-US" dirty="0">
                <a:effectLst/>
              </a:rPr>
              <a:t>Benefits</a:t>
            </a:r>
            <a:br>
              <a:rPr lang="en-US" dirty="0">
                <a:effectLst/>
              </a:rPr>
            </a:br>
            <a:endParaRPr lang="en-US" dirty="0"/>
          </a:p>
        </p:txBody>
      </p:sp>
      <p:sp>
        <p:nvSpPr>
          <p:cNvPr id="3" name="Content Placeholder 2">
            <a:extLst>
              <a:ext uri="{FF2B5EF4-FFF2-40B4-BE49-F238E27FC236}">
                <a16:creationId xmlns:a16="http://schemas.microsoft.com/office/drawing/2014/main" id="{5D1CAC08-CA00-48F7-AE0E-3E0F3D2EF618}"/>
              </a:ext>
            </a:extLst>
          </p:cNvPr>
          <p:cNvSpPr>
            <a:spLocks noGrp="1"/>
          </p:cNvSpPr>
          <p:nvPr>
            <p:ph idx="1"/>
          </p:nvPr>
        </p:nvSpPr>
        <p:spPr/>
        <p:txBody>
          <a:bodyPr>
            <a:normAutofit/>
          </a:bodyPr>
          <a:lstStyle/>
          <a:p>
            <a:r>
              <a:rPr lang="en-US" sz="3200" b="1" dirty="0">
                <a:effectLst/>
              </a:rPr>
              <a:t>Independent deployments</a:t>
            </a:r>
            <a:r>
              <a:rPr lang="en-US" sz="3200" dirty="0">
                <a:effectLst/>
              </a:rPr>
              <a:t> </a:t>
            </a:r>
          </a:p>
          <a:p>
            <a:r>
              <a:rPr lang="en-US" sz="3200" b="1" dirty="0">
                <a:effectLst/>
              </a:rPr>
              <a:t>Independent development</a:t>
            </a:r>
            <a:r>
              <a:rPr lang="en-US" sz="3200" dirty="0">
                <a:effectLst/>
              </a:rPr>
              <a:t> </a:t>
            </a:r>
          </a:p>
          <a:p>
            <a:r>
              <a:rPr lang="en-US" sz="3200" b="1" dirty="0">
                <a:effectLst/>
              </a:rPr>
              <a:t>Small, focused teams</a:t>
            </a:r>
            <a:endParaRPr lang="en-US" sz="3200" dirty="0">
              <a:effectLst/>
            </a:endParaRPr>
          </a:p>
          <a:p>
            <a:r>
              <a:rPr lang="en-US" sz="3200" b="1" dirty="0">
                <a:effectLst/>
              </a:rPr>
              <a:t>Fault isolation</a:t>
            </a:r>
            <a:endParaRPr lang="en-US" sz="3200" dirty="0">
              <a:effectLst/>
            </a:endParaRPr>
          </a:p>
          <a:p>
            <a:r>
              <a:rPr lang="en-US" sz="3200" b="1" dirty="0">
                <a:effectLst/>
              </a:rPr>
              <a:t>Mixed technology stacks</a:t>
            </a:r>
            <a:endParaRPr lang="en-US" sz="3200" dirty="0">
              <a:effectLst/>
            </a:endParaRPr>
          </a:p>
          <a:p>
            <a:r>
              <a:rPr lang="en-US" sz="3200" b="1" dirty="0">
                <a:effectLst/>
              </a:rPr>
              <a:t>Granular scaling</a:t>
            </a:r>
            <a:endParaRPr lang="en-US" sz="3200" dirty="0">
              <a:effectLst/>
            </a:endParaRPr>
          </a:p>
          <a:p>
            <a:endParaRPr lang="en-US" dirty="0">
              <a:effectLst/>
            </a:endParaRPr>
          </a:p>
        </p:txBody>
      </p:sp>
    </p:spTree>
    <p:extLst>
      <p:ext uri="{BB962C8B-B14F-4D97-AF65-F5344CB8AC3E}">
        <p14:creationId xmlns:p14="http://schemas.microsoft.com/office/powerpoint/2010/main" val="231095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02EFA-FBBC-43E5-9E4C-C79276AAA9AA}"/>
              </a:ext>
            </a:extLst>
          </p:cNvPr>
          <p:cNvSpPr>
            <a:spLocks noGrp="1"/>
          </p:cNvSpPr>
          <p:nvPr>
            <p:ph type="title"/>
          </p:nvPr>
        </p:nvSpPr>
        <p:spPr/>
        <p:txBody>
          <a:bodyPr>
            <a:normAutofit/>
          </a:bodyPr>
          <a:lstStyle/>
          <a:p>
            <a:r>
              <a:rPr lang="en-US" dirty="0">
                <a:effectLst/>
              </a:rPr>
              <a:t>Challenges</a:t>
            </a:r>
            <a:br>
              <a:rPr lang="en-US" dirty="0">
                <a:effectLst/>
              </a:rPr>
            </a:br>
            <a:endParaRPr lang="en-US" dirty="0"/>
          </a:p>
        </p:txBody>
      </p:sp>
      <p:sp>
        <p:nvSpPr>
          <p:cNvPr id="3" name="Content Placeholder 2">
            <a:extLst>
              <a:ext uri="{FF2B5EF4-FFF2-40B4-BE49-F238E27FC236}">
                <a16:creationId xmlns:a16="http://schemas.microsoft.com/office/drawing/2014/main" id="{80A459CC-E4AD-4172-B260-218C23D9F3BB}"/>
              </a:ext>
            </a:extLst>
          </p:cNvPr>
          <p:cNvSpPr>
            <a:spLocks noGrp="1"/>
          </p:cNvSpPr>
          <p:nvPr>
            <p:ph idx="1"/>
          </p:nvPr>
        </p:nvSpPr>
        <p:spPr>
          <a:xfrm>
            <a:off x="913795" y="1732449"/>
            <a:ext cx="10353762" cy="4648473"/>
          </a:xfrm>
        </p:spPr>
        <p:txBody>
          <a:bodyPr>
            <a:noAutofit/>
          </a:bodyPr>
          <a:lstStyle/>
          <a:p>
            <a:r>
              <a:rPr lang="en-US" sz="2700" b="1" dirty="0">
                <a:effectLst/>
              </a:rPr>
              <a:t>Complexity</a:t>
            </a:r>
            <a:endParaRPr lang="en-US" sz="2700" dirty="0">
              <a:effectLst/>
            </a:endParaRPr>
          </a:p>
          <a:p>
            <a:r>
              <a:rPr lang="en-US" sz="2700" b="1" dirty="0">
                <a:effectLst/>
              </a:rPr>
              <a:t>Development and test</a:t>
            </a:r>
            <a:endParaRPr lang="en-US" sz="2700" dirty="0">
              <a:effectLst/>
            </a:endParaRPr>
          </a:p>
          <a:p>
            <a:r>
              <a:rPr lang="en-US" sz="2700" b="1" dirty="0">
                <a:effectLst/>
              </a:rPr>
              <a:t>Lack of governance</a:t>
            </a:r>
            <a:endParaRPr lang="en-US" sz="2700" dirty="0">
              <a:effectLst/>
            </a:endParaRPr>
          </a:p>
          <a:p>
            <a:r>
              <a:rPr lang="en-US" sz="2700" b="1" dirty="0">
                <a:effectLst/>
              </a:rPr>
              <a:t>Network congestion and latency</a:t>
            </a:r>
            <a:endParaRPr lang="en-US" sz="2700" dirty="0">
              <a:effectLst/>
            </a:endParaRPr>
          </a:p>
          <a:p>
            <a:r>
              <a:rPr lang="en-US" sz="2700" b="1" dirty="0">
                <a:effectLst/>
              </a:rPr>
              <a:t>Data integrity</a:t>
            </a:r>
            <a:endParaRPr lang="en-US" sz="2700" dirty="0">
              <a:effectLst/>
            </a:endParaRPr>
          </a:p>
          <a:p>
            <a:r>
              <a:rPr lang="en-US" sz="2700" b="1" dirty="0">
                <a:effectLst/>
              </a:rPr>
              <a:t>Management</a:t>
            </a:r>
            <a:endParaRPr lang="en-US" sz="2700" dirty="0">
              <a:effectLst/>
            </a:endParaRPr>
          </a:p>
          <a:p>
            <a:r>
              <a:rPr lang="en-US" sz="2700" b="1" dirty="0">
                <a:effectLst/>
              </a:rPr>
              <a:t>Versioning</a:t>
            </a:r>
          </a:p>
          <a:p>
            <a:r>
              <a:rPr lang="en-US" sz="2700" b="1" dirty="0">
                <a:effectLst/>
              </a:rPr>
              <a:t>Skillset</a:t>
            </a:r>
            <a:endParaRPr lang="en-US" sz="2700" dirty="0">
              <a:effectLst/>
            </a:endParaRPr>
          </a:p>
        </p:txBody>
      </p:sp>
    </p:spTree>
    <p:extLst>
      <p:ext uri="{BB962C8B-B14F-4D97-AF65-F5344CB8AC3E}">
        <p14:creationId xmlns:p14="http://schemas.microsoft.com/office/powerpoint/2010/main" val="406056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17834-04B4-4AE2-ABC9-785D97DAC71D}"/>
              </a:ext>
            </a:extLst>
          </p:cNvPr>
          <p:cNvSpPr>
            <a:spLocks noGrp="1"/>
          </p:cNvSpPr>
          <p:nvPr>
            <p:ph type="title"/>
          </p:nvPr>
        </p:nvSpPr>
        <p:spPr/>
        <p:txBody>
          <a:bodyPr>
            <a:normAutofit/>
          </a:bodyPr>
          <a:lstStyle/>
          <a:p>
            <a:r>
              <a:rPr lang="en-US" dirty="0">
                <a:effectLst/>
              </a:rPr>
              <a:t>Best Practices</a:t>
            </a:r>
            <a:br>
              <a:rPr lang="en-US" dirty="0">
                <a:effectLst/>
              </a:rPr>
            </a:br>
            <a:endParaRPr lang="en-US" dirty="0"/>
          </a:p>
        </p:txBody>
      </p:sp>
      <p:sp>
        <p:nvSpPr>
          <p:cNvPr id="3" name="Content Placeholder 2">
            <a:extLst>
              <a:ext uri="{FF2B5EF4-FFF2-40B4-BE49-F238E27FC236}">
                <a16:creationId xmlns:a16="http://schemas.microsoft.com/office/drawing/2014/main" id="{33B0CDD4-AF31-492D-8661-486D66A8A922}"/>
              </a:ext>
            </a:extLst>
          </p:cNvPr>
          <p:cNvSpPr>
            <a:spLocks noGrp="1"/>
          </p:cNvSpPr>
          <p:nvPr>
            <p:ph idx="1"/>
          </p:nvPr>
        </p:nvSpPr>
        <p:spPr/>
        <p:txBody>
          <a:bodyPr>
            <a:noAutofit/>
          </a:bodyPr>
          <a:lstStyle/>
          <a:p>
            <a:r>
              <a:rPr lang="en-US" sz="2200" dirty="0">
                <a:effectLst/>
              </a:rPr>
              <a:t>Model services around the business domain.</a:t>
            </a:r>
          </a:p>
          <a:p>
            <a:r>
              <a:rPr lang="en-US" sz="2200" dirty="0">
                <a:effectLst/>
              </a:rPr>
              <a:t>Decentralize everything</a:t>
            </a:r>
          </a:p>
          <a:p>
            <a:r>
              <a:rPr lang="en-US" sz="2200" dirty="0">
                <a:effectLst/>
              </a:rPr>
              <a:t>Data storage should be private to the service that owns the data</a:t>
            </a:r>
          </a:p>
          <a:p>
            <a:r>
              <a:rPr lang="en-US" sz="2200" dirty="0">
                <a:effectLst/>
              </a:rPr>
              <a:t>Services communicate through well-designed APIs</a:t>
            </a:r>
          </a:p>
          <a:p>
            <a:r>
              <a:rPr lang="en-US" sz="2200" dirty="0">
                <a:effectLst/>
              </a:rPr>
              <a:t>Avoid coupling between services</a:t>
            </a:r>
          </a:p>
          <a:p>
            <a:r>
              <a:rPr lang="en-US" sz="2200" dirty="0">
                <a:effectLst/>
              </a:rPr>
              <a:t>Offload cross-cutting concerns, such as authentication and SSL termination, to the gateway.</a:t>
            </a:r>
          </a:p>
          <a:p>
            <a:r>
              <a:rPr lang="en-US" sz="2200" dirty="0">
                <a:effectLst/>
              </a:rPr>
              <a:t>Keep domain knowledge out of the gateway</a:t>
            </a:r>
          </a:p>
          <a:p>
            <a:r>
              <a:rPr lang="en-US" sz="2200" dirty="0">
                <a:effectLst/>
              </a:rPr>
              <a:t>Services should have loose coupling and high functional cohesion</a:t>
            </a:r>
          </a:p>
          <a:p>
            <a:r>
              <a:rPr lang="en-US" sz="2200" dirty="0">
                <a:effectLst/>
              </a:rPr>
              <a:t>Isolate failures</a:t>
            </a:r>
          </a:p>
        </p:txBody>
      </p:sp>
    </p:spTree>
    <p:extLst>
      <p:ext uri="{BB962C8B-B14F-4D97-AF65-F5344CB8AC3E}">
        <p14:creationId xmlns:p14="http://schemas.microsoft.com/office/powerpoint/2010/main" val="252004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49BA-DE69-4D10-A447-951F8BF763DB}"/>
              </a:ext>
            </a:extLst>
          </p:cNvPr>
          <p:cNvSpPr>
            <a:spLocks noGrp="1"/>
          </p:cNvSpPr>
          <p:nvPr>
            <p:ph type="title"/>
          </p:nvPr>
        </p:nvSpPr>
        <p:spPr/>
        <p:txBody>
          <a:bodyPr/>
          <a:lstStyle/>
          <a:p>
            <a:r>
              <a:rPr lang="en-US" dirty="0"/>
              <a:t>Demo</a:t>
            </a:r>
          </a:p>
        </p:txBody>
      </p:sp>
      <p:sp>
        <p:nvSpPr>
          <p:cNvPr id="3" name="Text Placeholder 2">
            <a:extLst>
              <a:ext uri="{FF2B5EF4-FFF2-40B4-BE49-F238E27FC236}">
                <a16:creationId xmlns:a16="http://schemas.microsoft.com/office/drawing/2014/main" id="{AE3A6759-4FE5-4696-A99A-DF91DA8A62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1103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83CFBA6-CE65-403A-9402-96B75FC899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5" name="Freeform 11">
              <a:extLst>
                <a:ext uri="{FF2B5EF4-FFF2-40B4-BE49-F238E27FC236}">
                  <a16:creationId xmlns:a16="http://schemas.microsoft.com/office/drawing/2014/main" id="{59AF335C-09EE-4959-A2C9-B32F3C6C1D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16" name="Freeform 12">
              <a:extLst>
                <a:ext uri="{FF2B5EF4-FFF2-40B4-BE49-F238E27FC236}">
                  <a16:creationId xmlns:a16="http://schemas.microsoft.com/office/drawing/2014/main" id="{94CCE8C7-E8BB-47EB-BBC7-5E8948F89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17" name="Freeform 13">
              <a:extLst>
                <a:ext uri="{FF2B5EF4-FFF2-40B4-BE49-F238E27FC236}">
                  <a16:creationId xmlns:a16="http://schemas.microsoft.com/office/drawing/2014/main" id="{2665878D-6479-49F4-BD1C-D1BE63CAB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18" name="Freeform 14">
              <a:extLst>
                <a:ext uri="{FF2B5EF4-FFF2-40B4-BE49-F238E27FC236}">
                  <a16:creationId xmlns:a16="http://schemas.microsoft.com/office/drawing/2014/main" id="{C6400AEB-4991-4E07-8599-C36A9E354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19" name="Freeform 15">
              <a:extLst>
                <a:ext uri="{FF2B5EF4-FFF2-40B4-BE49-F238E27FC236}">
                  <a16:creationId xmlns:a16="http://schemas.microsoft.com/office/drawing/2014/main" id="{0C2AEB7A-70D9-4DE7-B97A-0325DBC9F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0" name="Freeform 16">
              <a:extLst>
                <a:ext uri="{FF2B5EF4-FFF2-40B4-BE49-F238E27FC236}">
                  <a16:creationId xmlns:a16="http://schemas.microsoft.com/office/drawing/2014/main" id="{FC03DDD2-9CC7-40B7-A632-50BF3E3F6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21" name="Freeform 17">
              <a:extLst>
                <a:ext uri="{FF2B5EF4-FFF2-40B4-BE49-F238E27FC236}">
                  <a16:creationId xmlns:a16="http://schemas.microsoft.com/office/drawing/2014/main" id="{7F0B3262-F0EC-44D3-AA37-9552D248C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22" name="Freeform 18">
              <a:extLst>
                <a:ext uri="{FF2B5EF4-FFF2-40B4-BE49-F238E27FC236}">
                  <a16:creationId xmlns:a16="http://schemas.microsoft.com/office/drawing/2014/main" id="{1839BD80-9BF2-49B4-BB03-B5AAB359B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23" name="Freeform 19">
              <a:extLst>
                <a:ext uri="{FF2B5EF4-FFF2-40B4-BE49-F238E27FC236}">
                  <a16:creationId xmlns:a16="http://schemas.microsoft.com/office/drawing/2014/main" id="{BDC00C45-9216-4702-A31A-391B1D89C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24" name="Freeform 20">
              <a:extLst>
                <a:ext uri="{FF2B5EF4-FFF2-40B4-BE49-F238E27FC236}">
                  <a16:creationId xmlns:a16="http://schemas.microsoft.com/office/drawing/2014/main" id="{5FB0F70F-34B9-4938-B487-312A0BF0E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25" name="Freeform 21">
              <a:extLst>
                <a:ext uri="{FF2B5EF4-FFF2-40B4-BE49-F238E27FC236}">
                  <a16:creationId xmlns:a16="http://schemas.microsoft.com/office/drawing/2014/main" id="{791D1EE1-5A08-47A7-8D44-0940DEF5B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72" name="Freeform 22">
              <a:extLst>
                <a:ext uri="{FF2B5EF4-FFF2-40B4-BE49-F238E27FC236}">
                  <a16:creationId xmlns:a16="http://schemas.microsoft.com/office/drawing/2014/main" id="{E04F3404-E41A-43F9-AC45-52EB0874B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28" name="Group 27">
            <a:extLst>
              <a:ext uri="{FF2B5EF4-FFF2-40B4-BE49-F238E27FC236}">
                <a16:creationId xmlns:a16="http://schemas.microsoft.com/office/drawing/2014/main" id="{C1BC7BDB-967A-4559-AA14-041BCB872D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9" name="Freeform 27">
              <a:extLst>
                <a:ext uri="{FF2B5EF4-FFF2-40B4-BE49-F238E27FC236}">
                  <a16:creationId xmlns:a16="http://schemas.microsoft.com/office/drawing/2014/main" id="{A39F46EA-3E4A-46CA-BCB8-CA695ED3F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30" name="Freeform 28">
              <a:extLst>
                <a:ext uri="{FF2B5EF4-FFF2-40B4-BE49-F238E27FC236}">
                  <a16:creationId xmlns:a16="http://schemas.microsoft.com/office/drawing/2014/main" id="{491A4A32-7F8C-4CA7-9281-9761F035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31" name="Freeform 29">
              <a:extLst>
                <a:ext uri="{FF2B5EF4-FFF2-40B4-BE49-F238E27FC236}">
                  <a16:creationId xmlns:a16="http://schemas.microsoft.com/office/drawing/2014/main" id="{46B02D76-3CD9-4DF5-A3AD-793E7204E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32" name="Freeform 30">
              <a:extLst>
                <a:ext uri="{FF2B5EF4-FFF2-40B4-BE49-F238E27FC236}">
                  <a16:creationId xmlns:a16="http://schemas.microsoft.com/office/drawing/2014/main" id="{E579A2FB-E98B-4144-9D52-3A72BD8D1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33" name="Freeform 31">
              <a:extLst>
                <a:ext uri="{FF2B5EF4-FFF2-40B4-BE49-F238E27FC236}">
                  <a16:creationId xmlns:a16="http://schemas.microsoft.com/office/drawing/2014/main" id="{65E500DD-EB71-44B5-A2FA-88E996435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34" name="Freeform 32">
              <a:extLst>
                <a:ext uri="{FF2B5EF4-FFF2-40B4-BE49-F238E27FC236}">
                  <a16:creationId xmlns:a16="http://schemas.microsoft.com/office/drawing/2014/main" id="{04D6AAD6-45AE-454A-9206-8B90E8A26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35" name="Freeform 33">
              <a:extLst>
                <a:ext uri="{FF2B5EF4-FFF2-40B4-BE49-F238E27FC236}">
                  <a16:creationId xmlns:a16="http://schemas.microsoft.com/office/drawing/2014/main" id="{F7399B13-8510-45F6-98C4-0F14C0B37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36" name="Freeform 34">
              <a:extLst>
                <a:ext uri="{FF2B5EF4-FFF2-40B4-BE49-F238E27FC236}">
                  <a16:creationId xmlns:a16="http://schemas.microsoft.com/office/drawing/2014/main" id="{CA595445-6A38-4465-9A5D-9705388D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37" name="Freeform 35">
              <a:extLst>
                <a:ext uri="{FF2B5EF4-FFF2-40B4-BE49-F238E27FC236}">
                  <a16:creationId xmlns:a16="http://schemas.microsoft.com/office/drawing/2014/main" id="{21D40BAF-4AE0-46F4-BD65-057F0DC66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38" name="Freeform 36">
              <a:extLst>
                <a:ext uri="{FF2B5EF4-FFF2-40B4-BE49-F238E27FC236}">
                  <a16:creationId xmlns:a16="http://schemas.microsoft.com/office/drawing/2014/main" id="{B17F2D73-16DF-4138-B72D-E5B204717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39" name="Freeform 37">
              <a:extLst>
                <a:ext uri="{FF2B5EF4-FFF2-40B4-BE49-F238E27FC236}">
                  <a16:creationId xmlns:a16="http://schemas.microsoft.com/office/drawing/2014/main" id="{DB8ABBC2-6C0C-4F6E-97EB-55B3B7B2F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73" name="Freeform 38">
              <a:extLst>
                <a:ext uri="{FF2B5EF4-FFF2-40B4-BE49-F238E27FC236}">
                  <a16:creationId xmlns:a16="http://schemas.microsoft.com/office/drawing/2014/main" id="{7A49885E-6B05-41B6-B47F-9D24456F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4" name="Rectangle 41">
            <a:extLst>
              <a:ext uri="{FF2B5EF4-FFF2-40B4-BE49-F238E27FC236}">
                <a16:creationId xmlns:a16="http://schemas.microsoft.com/office/drawing/2014/main" id="{BDADA868-08FE-425A-AEF9-B622F9373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5" name="Freeform 11">
            <a:extLst>
              <a:ext uri="{FF2B5EF4-FFF2-40B4-BE49-F238E27FC236}">
                <a16:creationId xmlns:a16="http://schemas.microsoft.com/office/drawing/2014/main" id="{4AE17B7F-6C2F-42A9-946F-8FF49617D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useBgFill="1">
        <p:nvSpPr>
          <p:cNvPr id="76" name="Rectangle 45">
            <a:extLst>
              <a:ext uri="{FF2B5EF4-FFF2-40B4-BE49-F238E27FC236}">
                <a16:creationId xmlns:a16="http://schemas.microsoft.com/office/drawing/2014/main" id="{175CD74B-9CE8-4F20-A3E4-A22A7F036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6">
            <a:extLst>
              <a:ext uri="{FF2B5EF4-FFF2-40B4-BE49-F238E27FC236}">
                <a16:creationId xmlns:a16="http://schemas.microsoft.com/office/drawing/2014/main" id="{64EB2978-1C2E-6D48-B81D-193F1AB0743D}"/>
              </a:ext>
            </a:extLst>
          </p:cNvPr>
          <p:cNvSpPr>
            <a:spLocks noGrp="1"/>
          </p:cNvSpPr>
          <p:nvPr>
            <p:ph type="title"/>
          </p:nvPr>
        </p:nvSpPr>
        <p:spPr>
          <a:xfrm>
            <a:off x="1794897" y="624110"/>
            <a:ext cx="9712998" cy="1280890"/>
          </a:xfrm>
        </p:spPr>
        <p:txBody>
          <a:bodyPr vert="horz" lIns="91440" tIns="45720" rIns="91440" bIns="45720" rtlCol="0" anchor="t">
            <a:normAutofit/>
          </a:bodyPr>
          <a:lstStyle/>
          <a:p>
            <a:pPr lvl="0"/>
            <a:r>
              <a:rPr lang="en-US"/>
              <a:t>Additional resources:</a:t>
            </a:r>
            <a:endParaRPr lang="en-US" dirty="0"/>
          </a:p>
        </p:txBody>
      </p:sp>
      <p:sp>
        <p:nvSpPr>
          <p:cNvPr id="77" name="Rectangle 47">
            <a:extLst>
              <a:ext uri="{FF2B5EF4-FFF2-40B4-BE49-F238E27FC236}">
                <a16:creationId xmlns:a16="http://schemas.microsoft.com/office/drawing/2014/main" id="{99C44665-BECF-4482-A00C-E4BE2A87D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8" name="Freeform 11">
            <a:extLst>
              <a:ext uri="{FF2B5EF4-FFF2-40B4-BE49-F238E27FC236}">
                <a16:creationId xmlns:a16="http://schemas.microsoft.com/office/drawing/2014/main" id="{20398C1D-D011-4BA8-AC81-E829677B8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graphicFrame>
        <p:nvGraphicFramePr>
          <p:cNvPr id="9" name="Text Placeholder 2">
            <a:extLst>
              <a:ext uri="{FF2B5EF4-FFF2-40B4-BE49-F238E27FC236}">
                <a16:creationId xmlns:a16="http://schemas.microsoft.com/office/drawing/2014/main" id="{DC185977-9040-4DD2-88BC-5190E2FAB154}"/>
              </a:ext>
            </a:extLst>
          </p:cNvPr>
          <p:cNvGraphicFramePr/>
          <p:nvPr>
            <p:extLst>
              <p:ext uri="{D42A27DB-BD31-4B8C-83A1-F6EECF244321}">
                <p14:modId xmlns:p14="http://schemas.microsoft.com/office/powerpoint/2010/main" val="3444181455"/>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472696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1600</Words>
  <Application>Microsoft Office PowerPoint</Application>
  <PresentationFormat>Widescreen</PresentationFormat>
  <Paragraphs>155</Paragraphs>
  <Slides>21</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Segoe UI</vt:lpstr>
      <vt:lpstr>Wingdings 3</vt:lpstr>
      <vt:lpstr>Wisp</vt:lpstr>
      <vt:lpstr>Microservices – Getting Started</vt:lpstr>
      <vt:lpstr>PowerPoint Presentation</vt:lpstr>
      <vt:lpstr>PowerPoint Presentation</vt:lpstr>
      <vt:lpstr>PowerPoint Presentation</vt:lpstr>
      <vt:lpstr>PowerPoint Presentation</vt:lpstr>
      <vt:lpstr>PowerPoint Presentation</vt:lpstr>
      <vt:lpstr>PowerPoint Presentation</vt:lpstr>
      <vt:lpstr>WHY SHOULD WE USE MICROSERVICES INSTEAD OF A MONOLITHIC APPROACH?</vt:lpstr>
      <vt:lpstr>WHY SHOULD WE USE DOCKER? </vt:lpstr>
      <vt:lpstr>Definition</vt:lpstr>
      <vt:lpstr>Characteristics of a Microservice</vt:lpstr>
      <vt:lpstr>Microservices Overview</vt:lpstr>
      <vt:lpstr>Other Components in a Typical Microservices Architecture</vt:lpstr>
      <vt:lpstr>AKS: Managed Kubernetes</vt:lpstr>
      <vt:lpstr>Service Fabric</vt:lpstr>
      <vt:lpstr>When to use this architecture </vt:lpstr>
      <vt:lpstr>Benefits </vt:lpstr>
      <vt:lpstr>Challenges </vt:lpstr>
      <vt:lpstr>Best Practices </vt:lpstr>
      <vt:lpstr>Demo</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Microservices on Azure</dc:title>
  <dc:creator>Nikhil Shah</dc:creator>
  <cp:lastModifiedBy>Nikhil Shah</cp:lastModifiedBy>
  <cp:revision>5</cp:revision>
  <dcterms:created xsi:type="dcterms:W3CDTF">2019-05-25T02:06:40Z</dcterms:created>
  <dcterms:modified xsi:type="dcterms:W3CDTF">2025-12-31T08:04:26Z</dcterms:modified>
</cp:coreProperties>
</file>